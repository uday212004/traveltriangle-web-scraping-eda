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2" r:id="rId1"/>
  </p:sldMasterIdLst>
  <p:notesMasterIdLst>
    <p:notesMasterId r:id="rId23"/>
  </p:notesMasterIdLst>
  <p:sldIdLst>
    <p:sldId id="256" r:id="rId2"/>
    <p:sldId id="257" r:id="rId3"/>
    <p:sldId id="280" r:id="rId4"/>
    <p:sldId id="260" r:id="rId5"/>
    <p:sldId id="261" r:id="rId6"/>
    <p:sldId id="263" r:id="rId7"/>
    <p:sldId id="265" r:id="rId8"/>
    <p:sldId id="264" r:id="rId9"/>
    <p:sldId id="268" r:id="rId10"/>
    <p:sldId id="269" r:id="rId11"/>
    <p:sldId id="266" r:id="rId12"/>
    <p:sldId id="270" r:id="rId13"/>
    <p:sldId id="271" r:id="rId14"/>
    <p:sldId id="273" r:id="rId15"/>
    <p:sldId id="272" r:id="rId16"/>
    <p:sldId id="276" r:id="rId17"/>
    <p:sldId id="275" r:id="rId18"/>
    <p:sldId id="274" r:id="rId19"/>
    <p:sldId id="278" r:id="rId20"/>
    <p:sldId id="277" r:id="rId21"/>
    <p:sldId id="259" r:id="rId22"/>
  </p:sldIdLst>
  <p:sldSz cx="12192000" cy="6858000"/>
  <p:notesSz cx="6858000" cy="9144000"/>
  <p:embeddedFontLst>
    <p:embeddedFont>
      <p:font typeface="Lato Black" panose="020F0502020204030203" pitchFamily="34" charset="0"/>
      <p:bold r:id="rId24"/>
      <p:boldItalic r:id="rId25"/>
    </p:embeddedFont>
    <p:embeddedFont>
      <p:font typeface="Libre Baskerville" panose="02000000000000000000" pitchFamily="2" charset="0"/>
      <p:regular r:id="rId26"/>
      <p:bold r:id="rId27"/>
      <p: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9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39252-0675-11D1-E731-E58228EBA1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092042E-CAD5-B9AE-B580-29D96E1A09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2B4A97E-A919-1B05-71E7-C3887A8BC915}"/>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EC736579-AC76-91D7-619B-CB62363B87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BD51E8-3232-A910-B73F-3724F7891F7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2978537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C3B68-6DB1-85CC-1A1A-FE3980E4BA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CEFDE7-207D-F576-3E9A-26DC0F372E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C2CBDE-FC44-10C6-B612-A0392DA578A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60ACA1F8-7B54-695E-98B1-F84802AFF1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132D1A-4787-1D29-12D5-9AD5370703C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76454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25A7C-D39A-1A95-1513-985C246D38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F13A51C-F537-485F-C8C7-0AE86405C4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A50C8C-8F2D-C99F-E7DD-B36E285C824B}"/>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3970B40-A690-AF62-079B-51D0CD1FF3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2CA8C1-711B-C5E5-DB6D-5F6A8B3BDE9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954686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DE3A9-AB51-F9B0-989A-B2783529B61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533C62-73D0-B20F-21CA-50131EE30D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BCAF951-90F6-2D47-8A07-06DC1224C3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160E9D9-CC8A-8C03-1B94-5BDA9835D3BE}"/>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07360904-4662-34BB-B647-1AEE3627F7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02D363-83A8-0EC1-E777-9655248265E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499303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2AEBC-D111-DE02-41D7-A68EF6E88A8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4525AE-F9C7-A5A6-9C40-BFE4BB49A2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5E9A8F-9C18-D7B1-FE47-0C070F5171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0B710A-D8DA-8523-7170-9EF10DEA3A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510074-87BF-7BB4-AC6D-1909F5330E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121A3C7-1159-8B51-5DC4-A48E8DF2CDE1}"/>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864913C0-146A-7DF6-3417-051DD357D2C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3EA8C16-9C07-D3B5-9A05-079650B8D6A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038382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D8B16-207B-B2E2-0E9D-6C14B0E0F77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718F528-5897-61CB-0D81-134D890E6140}"/>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C26E56B7-5052-26C6-8B29-DE216758F1C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28887BB-B0E3-982A-2661-B150AF1F9FC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394140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FFA41F-A96D-6258-9B24-68FEBA6008D8}"/>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297B9B34-B811-988D-51E1-36AA3D919E5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5DF331-CBB9-5C38-1715-A545D16DB18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623954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4D7F2-9B33-5DA7-A99E-4CDCF1D94B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8AEEE22-83F7-885C-0E48-7EBF6A04EC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A2A972E-1115-24D5-A2A9-D3C7D5A5EA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EC8F66-3910-0080-7F30-A0F1838DAF32}"/>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1AC59FAC-4678-2186-0C5E-C76F03D284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570BC8-D982-6B0C-FBBD-17AE843DF41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209079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7C56A-7470-5BD4-7052-2B509A9058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827D8FF-FF66-E079-A1E1-C686DACF22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75A3E81-2E59-2F94-A1E4-9497088E05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4E8786-F078-4002-05F1-0664DB7914FB}"/>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2918CF96-55E0-B329-5E3D-F1B7BA1FE1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B03C9C-4927-5D48-5CB2-218B0DCB902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06621859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C0389-3066-C0F1-2A65-6F5A06C4369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15DAF1E-DC29-A7FF-88D2-80EFA91B61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7AFB28-C5D8-2BD3-3390-9D34F796D6B9}"/>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A8117045-451C-CD79-E971-D1E14548C0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2455A3-633C-831B-FE8C-BB3DF385F5E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017218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8A8FD4-1279-004D-7046-7A5C925706A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A487A3-FC96-280E-64CC-2D6DF7A051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0FF278-A812-8F25-6216-92AAB0E0526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06C6B348-A577-F6F3-8117-BC21A0554F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B2F127-C57C-030E-BF90-AF428474360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058620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0F44DC-A3F2-ABB3-C8F4-BC3C13201D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AAF93D1-BE43-FDFF-636E-B666658CA2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3FDBC7-1FD4-C82E-CEBF-B9E9E212D8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4C96D7F6-0D7B-03D9-212B-D6AD552657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953A7AA-C44B-9221-BE0B-2C8CFE18F6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420897721"/>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uday-deshmukh-0a225a34a/"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github.com/uday21200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traveltriangle.com/tour-packages/india?destination_type=india" TargetMode="Externa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2472904" y="3717986"/>
            <a:ext cx="7246189"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b="1" i="0" u="none" strike="noStrike" cap="none" dirty="0">
                <a:solidFill>
                  <a:srgbClr val="000000"/>
                </a:solidFill>
                <a:effectLst>
                  <a:outerShdw blurRad="38100" dist="38100" dir="2700000" algn="tl">
                    <a:srgbClr val="000000">
                      <a:alpha val="43137"/>
                    </a:srgbClr>
                  </a:outerShdw>
                </a:effectLst>
                <a:latin typeface="Arial"/>
                <a:ea typeface="Arial"/>
                <a:cs typeface="Arial"/>
                <a:sym typeface="Arial"/>
              </a:rPr>
              <a:t>Data Analysis on Travel And Tourist Packages </a:t>
            </a:r>
            <a:endParaRPr b="1" i="0" u="none" strike="noStrike" cap="none" dirty="0">
              <a:solidFill>
                <a:srgbClr val="000000"/>
              </a:solidFill>
              <a:effectLst>
                <a:outerShdw blurRad="38100" dist="38100" dir="2700000" algn="tl">
                  <a:srgbClr val="000000">
                    <a:alpha val="43137"/>
                  </a:srgbClr>
                </a:outerShdw>
              </a:effectLst>
              <a:latin typeface="Arial"/>
              <a:ea typeface="Arial"/>
              <a:cs typeface="Arial"/>
              <a:sym typeface="Arial"/>
            </a:endParaRPr>
          </a:p>
        </p:txBody>
      </p:sp>
      <p:sp>
        <p:nvSpPr>
          <p:cNvPr id="3" name="TextBox 2">
            <a:extLst>
              <a:ext uri="{FF2B5EF4-FFF2-40B4-BE49-F238E27FC236}">
                <a16:creationId xmlns:a16="http://schemas.microsoft.com/office/drawing/2014/main" id="{9D2DE6E5-B667-2EB2-E854-05718AE276F8}"/>
              </a:ext>
            </a:extLst>
          </p:cNvPr>
          <p:cNvSpPr txBox="1"/>
          <p:nvPr/>
        </p:nvSpPr>
        <p:spPr>
          <a:xfrm>
            <a:off x="4747847" y="5354474"/>
            <a:ext cx="3938954" cy="307777"/>
          </a:xfrm>
          <a:prstGeom prst="rect">
            <a:avLst/>
          </a:prstGeom>
          <a:noFill/>
        </p:spPr>
        <p:txBody>
          <a:bodyPr wrap="square" rtlCol="0">
            <a:spAutoFit/>
          </a:bodyPr>
          <a:lstStyle/>
          <a:p>
            <a:r>
              <a:rPr lang="en-IN" dirty="0"/>
              <a:t>Presented By Uday Deshmukh</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427656" y="1158495"/>
            <a:ext cx="7007400" cy="5262939"/>
          </a:xfrm>
          <a:prstGeom prst="rect">
            <a:avLst/>
          </a:prstGeom>
          <a:noFill/>
          <a:ln>
            <a:noFill/>
          </a:ln>
        </p:spPr>
        <p:txBody>
          <a:bodyPr spcFirstLastPara="1" wrap="square" lIns="91425" tIns="45700" rIns="91425" bIns="45700" anchor="t" anchorCtr="0">
            <a:spAutoFit/>
          </a:bodyPr>
          <a:lstStyle/>
          <a:p>
            <a:pPr marR="0" lvl="0" algn="l" rtl="0">
              <a:lnSpc>
                <a:spcPct val="100000"/>
              </a:lnSpc>
              <a:spcBef>
                <a:spcPts val="0"/>
              </a:spcBef>
              <a:spcAft>
                <a:spcPts val="0"/>
              </a:spcAft>
              <a:buClr>
                <a:schemeClr val="dk1"/>
              </a:buClr>
              <a:buSzPts val="2400"/>
            </a:pPr>
            <a:r>
              <a:rPr lang="en-IN" sz="2400" b="1" i="0" u="none" strike="noStrike" cap="none" dirty="0">
                <a:solidFill>
                  <a:schemeClr val="dk1"/>
                </a:solidFill>
                <a:latin typeface="Calibri"/>
                <a:ea typeface="Calibri"/>
                <a:cs typeface="Calibri"/>
                <a:sym typeface="Calibri"/>
              </a:rPr>
              <a:t>Name :- </a:t>
            </a:r>
            <a:r>
              <a:rPr lang="en-IN" sz="2400" i="0" u="none" strike="noStrike" cap="none" dirty="0">
                <a:solidFill>
                  <a:schemeClr val="dk1"/>
                </a:solidFill>
                <a:latin typeface="Calibri"/>
                <a:ea typeface="Calibri"/>
                <a:cs typeface="Calibri"/>
                <a:sym typeface="Calibri"/>
              </a:rPr>
              <a:t>Uday </a:t>
            </a:r>
            <a:r>
              <a:rPr lang="en-IN" sz="2400" i="0" u="none" strike="noStrike" cap="none" dirty="0" err="1">
                <a:solidFill>
                  <a:schemeClr val="dk1"/>
                </a:solidFill>
                <a:latin typeface="Calibri"/>
                <a:ea typeface="Calibri"/>
                <a:cs typeface="Calibri"/>
                <a:sym typeface="Calibri"/>
              </a:rPr>
              <a:t>Rambhau</a:t>
            </a:r>
            <a:r>
              <a:rPr lang="en-IN" sz="2400" i="0" u="none" strike="noStrike" cap="none" dirty="0">
                <a:solidFill>
                  <a:schemeClr val="dk1"/>
                </a:solidFill>
                <a:latin typeface="Calibri"/>
                <a:ea typeface="Calibri"/>
                <a:cs typeface="Calibri"/>
                <a:sym typeface="Calibri"/>
              </a:rPr>
              <a:t> Deshmukh</a:t>
            </a:r>
          </a:p>
          <a:p>
            <a:pPr lvl="0">
              <a:buClr>
                <a:schemeClr val="dk1"/>
              </a:buClr>
              <a:buSzPts val="2400"/>
            </a:pPr>
            <a:r>
              <a:rPr lang="en-IN" sz="2400" b="1" dirty="0">
                <a:solidFill>
                  <a:schemeClr val="dk1"/>
                </a:solidFill>
                <a:latin typeface="Calibri"/>
                <a:ea typeface="Calibri"/>
                <a:cs typeface="Calibri"/>
                <a:sym typeface="Calibri"/>
              </a:rPr>
              <a:t>Education :- </a:t>
            </a:r>
            <a:r>
              <a:rPr lang="en-US" sz="2400" dirty="0"/>
              <a:t>G. H. </a:t>
            </a:r>
            <a:r>
              <a:rPr lang="en-US" sz="2400" dirty="0" err="1"/>
              <a:t>Raisoni</a:t>
            </a:r>
            <a:r>
              <a:rPr lang="en-US" sz="2400" dirty="0"/>
              <a:t> college of engineering and business management ,Jalgaon. </a:t>
            </a:r>
          </a:p>
          <a:p>
            <a:pPr lvl="0">
              <a:buClr>
                <a:schemeClr val="dk1"/>
              </a:buClr>
              <a:buSzPts val="2400"/>
            </a:pPr>
            <a:r>
              <a:rPr lang="en-US" sz="2400" b="1" dirty="0"/>
              <a:t>Why I Want To Learn Data Science :- </a:t>
            </a:r>
            <a:r>
              <a:rPr lang="en-US" sz="2400" dirty="0"/>
              <a:t>I want to learn data science because ,I’ve always been curious about how companies makes the decision about what customers likes or dislikes ,that urge of knowing how this decision making works in companies created my interest in data science .</a:t>
            </a:r>
          </a:p>
          <a:p>
            <a:pPr lvl="0">
              <a:buClr>
                <a:schemeClr val="dk1"/>
              </a:buClr>
              <a:buSzPts val="2400"/>
            </a:pPr>
            <a:r>
              <a:rPr lang="en-IN" sz="2400" b="1" dirty="0"/>
              <a:t>Connect With Me :-</a:t>
            </a:r>
          </a:p>
          <a:p>
            <a:pPr lvl="0">
              <a:buClr>
                <a:schemeClr val="dk1"/>
              </a:buClr>
              <a:buSzPts val="2400"/>
            </a:pPr>
            <a:r>
              <a:rPr lang="en-IN" sz="2400" b="1" dirty="0">
                <a:solidFill>
                  <a:schemeClr val="dk1"/>
                </a:solidFill>
                <a:ea typeface="Calibri"/>
                <a:cs typeface="Calibri"/>
                <a:sym typeface="Calibri"/>
                <a:hlinkClick r:id="rId3"/>
              </a:rPr>
              <a:t>https://www.linkedin.com/in/uday-deshmukh-0a225a34a/</a:t>
            </a:r>
            <a:r>
              <a:rPr lang="en-IN" sz="2400" b="1" dirty="0">
                <a:solidFill>
                  <a:schemeClr val="dk1"/>
                </a:solidFill>
                <a:ea typeface="Calibri"/>
                <a:cs typeface="Calibri"/>
                <a:sym typeface="Calibri"/>
              </a:rPr>
              <a:t> </a:t>
            </a:r>
          </a:p>
          <a:p>
            <a:pPr lvl="0">
              <a:buClr>
                <a:schemeClr val="dk1"/>
              </a:buClr>
              <a:buSzPts val="2400"/>
            </a:pPr>
            <a:r>
              <a:rPr lang="en-IN" sz="2400" b="1" dirty="0">
                <a:solidFill>
                  <a:schemeClr val="dk1"/>
                </a:solidFill>
                <a:ea typeface="Calibri"/>
                <a:cs typeface="Calibri"/>
                <a:sym typeface="Calibri"/>
                <a:hlinkClick r:id="rId4"/>
              </a:rPr>
              <a:t>https://github.com/uday212004</a:t>
            </a:r>
            <a:endParaRPr lang="en-IN" sz="2400" b="1" dirty="0">
              <a:solidFill>
                <a:schemeClr val="dk1"/>
              </a:solidFill>
              <a:ea typeface="Calibri"/>
              <a:cs typeface="Calibri"/>
              <a:sym typeface="Calibri"/>
            </a:endParaRPr>
          </a:p>
          <a:p>
            <a:pPr lvl="0">
              <a:buClr>
                <a:schemeClr val="dk1"/>
              </a:buClr>
              <a:buSzPts val="2400"/>
            </a:pPr>
            <a:endParaRPr sz="2400" b="1" i="0" u="none" strike="noStrike" cap="none" dirty="0">
              <a:solidFill>
                <a:schemeClr val="dk1"/>
              </a:solidFill>
              <a:latin typeface="Calibri"/>
              <a:ea typeface="Calibri"/>
              <a:cs typeface="Calibri"/>
              <a:sym typeface="Calibri"/>
            </a:endParaRPr>
          </a:p>
        </p:txBody>
      </p:sp>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chemeClr val="tx2">
                    <a:lumMod val="10000"/>
                  </a:schemeClr>
                </a:solidFill>
                <a:effectLst>
                  <a:outerShdw blurRad="38100" dist="38100" dir="2700000" algn="tl">
                    <a:srgbClr val="000000">
                      <a:alpha val="43137"/>
                    </a:srgbClr>
                  </a:outerShdw>
                </a:effectLst>
                <a:latin typeface="Lato Black"/>
                <a:ea typeface="Lato Black"/>
                <a:cs typeface="Lato Black"/>
                <a:sym typeface="Lato Black"/>
              </a:rPr>
              <a:t>About me</a:t>
            </a:r>
            <a:endParaRPr sz="1800" b="0" i="0" u="none" strike="noStrike" cap="none" dirty="0">
              <a:solidFill>
                <a:schemeClr val="tx2">
                  <a:lumMod val="10000"/>
                </a:schemeClr>
              </a:solidFill>
              <a:effectLst>
                <a:outerShdw blurRad="38100" dist="38100" dir="2700000" algn="tl">
                  <a:srgbClr val="000000">
                    <a:alpha val="43137"/>
                  </a:srgbClr>
                </a:outerShdw>
              </a:effectLst>
              <a:latin typeface="Calibri"/>
              <a:ea typeface="Calibri"/>
              <a:cs typeface="Calibri"/>
              <a:sym typeface="Calibri"/>
            </a:endParaRPr>
          </a:p>
        </p:txBody>
      </p:sp>
      <p:pic>
        <p:nvPicPr>
          <p:cNvPr id="6" name="Picture 5">
            <a:extLst>
              <a:ext uri="{FF2B5EF4-FFF2-40B4-BE49-F238E27FC236}">
                <a16:creationId xmlns:a16="http://schemas.microsoft.com/office/drawing/2014/main" id="{ED767442-F576-811A-8D37-C3BC7E0DDB6C}"/>
              </a:ext>
            </a:extLst>
          </p:cNvPr>
          <p:cNvPicPr>
            <a:picLocks noChangeAspect="1"/>
          </p:cNvPicPr>
          <p:nvPr/>
        </p:nvPicPr>
        <p:blipFill>
          <a:blip r:embed="rId5"/>
          <a:stretch>
            <a:fillRect/>
          </a:stretch>
        </p:blipFill>
        <p:spPr>
          <a:xfrm>
            <a:off x="187569" y="4879730"/>
            <a:ext cx="315424" cy="315424"/>
          </a:xfrm>
          <a:prstGeom prst="rect">
            <a:avLst/>
          </a:prstGeom>
        </p:spPr>
      </p:pic>
      <p:pic>
        <p:nvPicPr>
          <p:cNvPr id="8" name="Picture 7">
            <a:extLst>
              <a:ext uri="{FF2B5EF4-FFF2-40B4-BE49-F238E27FC236}">
                <a16:creationId xmlns:a16="http://schemas.microsoft.com/office/drawing/2014/main" id="{A20394EC-65D0-4E24-50C7-25708ED6EB7F}"/>
              </a:ext>
            </a:extLst>
          </p:cNvPr>
          <p:cNvPicPr>
            <a:picLocks noChangeAspect="1"/>
          </p:cNvPicPr>
          <p:nvPr/>
        </p:nvPicPr>
        <p:blipFill>
          <a:blip r:embed="rId6"/>
          <a:stretch>
            <a:fillRect/>
          </a:stretch>
        </p:blipFill>
        <p:spPr>
          <a:xfrm>
            <a:off x="167061" y="5630074"/>
            <a:ext cx="356439" cy="356439"/>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81058D-C536-D7E6-9D55-0269F1E97CFE}"/>
              </a:ext>
            </a:extLst>
          </p:cNvPr>
          <p:cNvSpPr txBox="1"/>
          <p:nvPr/>
        </p:nvSpPr>
        <p:spPr>
          <a:xfrm>
            <a:off x="0" y="26377"/>
            <a:ext cx="4149969" cy="461665"/>
          </a:xfrm>
          <a:prstGeom prst="rect">
            <a:avLst/>
          </a:prstGeom>
          <a:noFill/>
        </p:spPr>
        <p:txBody>
          <a:bodyPr wrap="square" rtlCol="0">
            <a:spAutoFit/>
          </a:bodyPr>
          <a:lstStyle/>
          <a:p>
            <a:r>
              <a:rPr lang="en-IN" sz="2400" b="1" dirty="0">
                <a:effectLst>
                  <a:outerShdw blurRad="38100" dist="38100" dir="2700000" algn="tl">
                    <a:srgbClr val="000000">
                      <a:alpha val="43137"/>
                    </a:srgbClr>
                  </a:outerShdw>
                </a:effectLst>
              </a:rPr>
              <a:t>Use Case :-</a:t>
            </a:r>
          </a:p>
        </p:txBody>
      </p:sp>
      <p:sp>
        <p:nvSpPr>
          <p:cNvPr id="3" name="TextBox 2">
            <a:extLst>
              <a:ext uri="{FF2B5EF4-FFF2-40B4-BE49-F238E27FC236}">
                <a16:creationId xmlns:a16="http://schemas.microsoft.com/office/drawing/2014/main" id="{AD6A35E6-F235-A95C-9F89-150E60BA2F8D}"/>
              </a:ext>
            </a:extLst>
          </p:cNvPr>
          <p:cNvSpPr txBox="1"/>
          <p:nvPr/>
        </p:nvSpPr>
        <p:spPr>
          <a:xfrm>
            <a:off x="60081" y="655096"/>
            <a:ext cx="12071838" cy="1754326"/>
          </a:xfrm>
          <a:prstGeom prst="rect">
            <a:avLst/>
          </a:prstGeom>
          <a:noFill/>
        </p:spPr>
        <p:txBody>
          <a:bodyPr wrap="square" rtlCol="0">
            <a:spAutoFit/>
          </a:bodyPr>
          <a:lstStyle/>
          <a:p>
            <a:r>
              <a:rPr lang="en-US" dirty="0"/>
              <a:t>This project uses </a:t>
            </a:r>
            <a:r>
              <a:rPr lang="en-US" b="1" dirty="0"/>
              <a:t>web scraping and exploratory data analysis (EDA)</a:t>
            </a:r>
            <a:r>
              <a:rPr lang="en-US" dirty="0"/>
              <a:t> to analyze travel package data from </a:t>
            </a:r>
            <a:r>
              <a:rPr lang="en-US" dirty="0" err="1"/>
              <a:t>TravelTriangle</a:t>
            </a:r>
            <a:r>
              <a:rPr lang="en-US" dirty="0"/>
              <a:t>.</a:t>
            </a:r>
          </a:p>
          <a:p>
            <a:pPr marL="285750" indent="-285750">
              <a:buFont typeface="Arial" panose="020B0604020202020204" pitchFamily="34" charset="0"/>
              <a:buChar char="•"/>
            </a:pPr>
            <a:r>
              <a:rPr lang="en-IN" dirty="0"/>
              <a:t>Identify </a:t>
            </a:r>
            <a:r>
              <a:rPr lang="en-IN" b="1" dirty="0"/>
              <a:t>popular travel destinations</a:t>
            </a:r>
            <a:r>
              <a:rPr lang="en-IN" dirty="0"/>
              <a:t> based on package availability</a:t>
            </a:r>
          </a:p>
          <a:p>
            <a:pPr marL="285750" indent="-285750">
              <a:buFont typeface="Arial" panose="020B0604020202020204" pitchFamily="34" charset="0"/>
              <a:buChar char="•"/>
            </a:pPr>
            <a:r>
              <a:rPr lang="en-US" dirty="0"/>
              <a:t>Analyze </a:t>
            </a:r>
            <a:r>
              <a:rPr lang="en-US" b="1" dirty="0"/>
              <a:t>price distribution</a:t>
            </a:r>
            <a:r>
              <a:rPr lang="en-US" dirty="0"/>
              <a:t> across different trip durations and hotel ratings</a:t>
            </a:r>
          </a:p>
          <a:p>
            <a:pPr marL="285750" indent="-285750">
              <a:buFont typeface="Arial" panose="020B0604020202020204" pitchFamily="34" charset="0"/>
              <a:buChar char="•"/>
            </a:pPr>
            <a:r>
              <a:rPr lang="en-US" dirty="0"/>
              <a:t>Understand the impact of </a:t>
            </a:r>
            <a:r>
              <a:rPr lang="en-US" b="1" dirty="0"/>
              <a:t>discounts</a:t>
            </a:r>
            <a:r>
              <a:rPr lang="en-US" dirty="0"/>
              <a:t> on package pricing</a:t>
            </a:r>
          </a:p>
          <a:p>
            <a:pPr marL="285750" indent="-285750">
              <a:buFont typeface="Arial" panose="020B0604020202020204" pitchFamily="34" charset="0"/>
              <a:buChar char="•"/>
            </a:pPr>
            <a:r>
              <a:rPr lang="en-US" dirty="0"/>
              <a:t>Segment packages into </a:t>
            </a:r>
            <a:r>
              <a:rPr lang="en-US" b="1" dirty="0"/>
              <a:t>budget and luxury categories</a:t>
            </a:r>
          </a:p>
          <a:p>
            <a:pPr marL="285750" indent="-285750">
              <a:buFont typeface="Arial" panose="020B0604020202020204" pitchFamily="34" charset="0"/>
              <a:buChar char="•"/>
            </a:pPr>
            <a:r>
              <a:rPr lang="en-US" dirty="0"/>
              <a:t>Provide data-driven insights to support </a:t>
            </a:r>
            <a:r>
              <a:rPr lang="en-US" b="1" dirty="0"/>
              <a:t>pricing strategy, package planning, and marketing decisions</a:t>
            </a:r>
            <a:endParaRPr lang="en-IN" dirty="0"/>
          </a:p>
        </p:txBody>
      </p:sp>
      <p:sp>
        <p:nvSpPr>
          <p:cNvPr id="5" name="TextBox 4">
            <a:extLst>
              <a:ext uri="{FF2B5EF4-FFF2-40B4-BE49-F238E27FC236}">
                <a16:creationId xmlns:a16="http://schemas.microsoft.com/office/drawing/2014/main" id="{5C3AE9FE-02FA-62E7-6676-38A9C1EA8502}"/>
              </a:ext>
            </a:extLst>
          </p:cNvPr>
          <p:cNvSpPr txBox="1"/>
          <p:nvPr/>
        </p:nvSpPr>
        <p:spPr>
          <a:xfrm>
            <a:off x="60081" y="2690446"/>
            <a:ext cx="3597519" cy="738664"/>
          </a:xfrm>
          <a:prstGeom prst="rect">
            <a:avLst/>
          </a:prstGeom>
          <a:noFill/>
        </p:spPr>
        <p:txBody>
          <a:bodyPr wrap="square" rtlCol="0">
            <a:spAutoFit/>
          </a:bodyPr>
          <a:lstStyle/>
          <a:p>
            <a:r>
              <a:rPr lang="en-IN" sz="2400" b="1" dirty="0">
                <a:effectLst>
                  <a:outerShdw blurRad="38100" dist="38100" dir="2700000" algn="tl">
                    <a:srgbClr val="000000">
                      <a:alpha val="43137"/>
                    </a:srgbClr>
                  </a:outerShdw>
                </a:effectLst>
              </a:rPr>
              <a:t>Objective Of the Project :-</a:t>
            </a:r>
          </a:p>
          <a:p>
            <a:endParaRPr lang="en-IN" dirty="0"/>
          </a:p>
        </p:txBody>
      </p:sp>
      <p:sp>
        <p:nvSpPr>
          <p:cNvPr id="6" name="TextBox 5">
            <a:extLst>
              <a:ext uri="{FF2B5EF4-FFF2-40B4-BE49-F238E27FC236}">
                <a16:creationId xmlns:a16="http://schemas.microsoft.com/office/drawing/2014/main" id="{B72427CB-7D2D-4D4B-5ACD-C2FBA53D498B}"/>
              </a:ext>
            </a:extLst>
          </p:cNvPr>
          <p:cNvSpPr txBox="1"/>
          <p:nvPr/>
        </p:nvSpPr>
        <p:spPr>
          <a:xfrm>
            <a:off x="60081" y="3174023"/>
            <a:ext cx="11994173" cy="1754326"/>
          </a:xfrm>
          <a:prstGeom prst="rect">
            <a:avLst/>
          </a:prstGeom>
          <a:noFill/>
        </p:spPr>
        <p:txBody>
          <a:bodyPr wrap="square" rtlCol="0">
            <a:spAutoFit/>
          </a:bodyPr>
          <a:lstStyle/>
          <a:p>
            <a:pPr marL="285750" indent="-285750">
              <a:buFont typeface="Arial" panose="020B0604020202020204" pitchFamily="34" charset="0"/>
              <a:buChar char="•"/>
            </a:pPr>
            <a:r>
              <a:rPr lang="en-US" dirty="0"/>
              <a:t>The objective of this project is to </a:t>
            </a:r>
            <a:r>
              <a:rPr lang="en-US" b="1" dirty="0"/>
              <a:t>collect, clean, and analyze travel package data scraped from the </a:t>
            </a:r>
            <a:r>
              <a:rPr lang="en-US" b="1" dirty="0" err="1"/>
              <a:t>TravelTriangle</a:t>
            </a:r>
            <a:r>
              <a:rPr lang="en-US" b="1" dirty="0"/>
              <a:t> website</a:t>
            </a:r>
            <a:r>
              <a:rPr lang="en-US" dirty="0"/>
              <a:t> in order to </a:t>
            </a:r>
            <a:r>
              <a:rPr lang="en-US" b="1" dirty="0"/>
              <a:t>identify key trends and patterns related to pricing, trip duration, destinations, hotel ratings, and discounts</a:t>
            </a:r>
            <a:r>
              <a:rPr lang="en-US" dirty="0"/>
              <a:t>.</a:t>
            </a:r>
          </a:p>
          <a:p>
            <a:pPr marL="285750" indent="-285750">
              <a:buFont typeface="Arial" panose="020B0604020202020204" pitchFamily="34" charset="0"/>
              <a:buChar char="•"/>
            </a:pPr>
            <a:r>
              <a:rPr lang="en-US" dirty="0"/>
              <a:t>To analyze scraped travel package data using EDA techniques to uncover pricing, destination, and discount trends in the travel and tourism industry.</a:t>
            </a:r>
          </a:p>
          <a:p>
            <a:pPr marL="285750" indent="-285750">
              <a:buFont typeface="Arial" panose="020B0604020202020204" pitchFamily="34" charset="0"/>
              <a:buChar char="•"/>
            </a:pPr>
            <a:r>
              <a:rPr lang="en-US" dirty="0"/>
              <a:t>Through exploratory data analysis, the project aims to generate </a:t>
            </a:r>
            <a:r>
              <a:rPr lang="en-US" b="1" dirty="0"/>
              <a:t>data-driven insights</a:t>
            </a:r>
            <a:r>
              <a:rPr lang="en-US" dirty="0"/>
              <a:t> that can support </a:t>
            </a:r>
            <a:r>
              <a:rPr lang="en-US" b="1" dirty="0"/>
              <a:t>better decision-making in travel package planning, pricing strategies, and marketing efforts</a:t>
            </a:r>
            <a:r>
              <a:rPr lang="en-US" dirty="0"/>
              <a:t>.</a:t>
            </a:r>
            <a:endParaRPr lang="en-IN" dirty="0"/>
          </a:p>
        </p:txBody>
      </p:sp>
    </p:spTree>
    <p:extLst>
      <p:ext uri="{BB962C8B-B14F-4D97-AF65-F5344CB8AC3E}">
        <p14:creationId xmlns:p14="http://schemas.microsoft.com/office/powerpoint/2010/main" val="35007950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3781F5-5F6E-3C66-7D57-7493184529AF}"/>
              </a:ext>
            </a:extLst>
          </p:cNvPr>
          <p:cNvSpPr txBox="1"/>
          <p:nvPr/>
        </p:nvSpPr>
        <p:spPr>
          <a:xfrm>
            <a:off x="-1090246" y="-83504"/>
            <a:ext cx="5081954" cy="646331"/>
          </a:xfrm>
          <a:prstGeom prst="rect">
            <a:avLst/>
          </a:prstGeom>
          <a:noFill/>
        </p:spPr>
        <p:txBody>
          <a:bodyPr wrap="square" rtlCol="0">
            <a:spAutoFit/>
          </a:bodyPr>
          <a:lstStyle/>
          <a:p>
            <a:pPr algn="ctr"/>
            <a:r>
              <a:rPr lang="en-IN" sz="3600" b="1" dirty="0">
                <a:solidFill>
                  <a:schemeClr val="tx2">
                    <a:lumMod val="10000"/>
                  </a:schemeClr>
                </a:solidFill>
                <a:effectLst>
                  <a:outerShdw blurRad="38100" dist="38100" dir="2700000" algn="tl">
                    <a:srgbClr val="000000">
                      <a:alpha val="43137"/>
                    </a:srgbClr>
                  </a:outerShdw>
                </a:effectLst>
              </a:rPr>
              <a:t>Data Resources</a:t>
            </a:r>
          </a:p>
        </p:txBody>
      </p:sp>
      <p:pic>
        <p:nvPicPr>
          <p:cNvPr id="4" name="Picture 3">
            <a:extLst>
              <a:ext uri="{FF2B5EF4-FFF2-40B4-BE49-F238E27FC236}">
                <a16:creationId xmlns:a16="http://schemas.microsoft.com/office/drawing/2014/main" id="{E972AB66-C930-E415-DF5B-9708D43B082B}"/>
              </a:ext>
            </a:extLst>
          </p:cNvPr>
          <p:cNvPicPr>
            <a:picLocks noChangeAspect="1"/>
          </p:cNvPicPr>
          <p:nvPr/>
        </p:nvPicPr>
        <p:blipFill>
          <a:blip r:embed="rId2"/>
          <a:stretch>
            <a:fillRect/>
          </a:stretch>
        </p:blipFill>
        <p:spPr>
          <a:xfrm>
            <a:off x="70339" y="1186962"/>
            <a:ext cx="11910646" cy="5257800"/>
          </a:xfrm>
          <a:prstGeom prst="rect">
            <a:avLst/>
          </a:prstGeom>
        </p:spPr>
      </p:pic>
      <p:sp>
        <p:nvSpPr>
          <p:cNvPr id="5" name="TextBox 4">
            <a:extLst>
              <a:ext uri="{FF2B5EF4-FFF2-40B4-BE49-F238E27FC236}">
                <a16:creationId xmlns:a16="http://schemas.microsoft.com/office/drawing/2014/main" id="{CE83D43E-7C4C-A38F-52DE-5D0365397866}"/>
              </a:ext>
            </a:extLst>
          </p:cNvPr>
          <p:cNvSpPr txBox="1"/>
          <p:nvPr/>
        </p:nvSpPr>
        <p:spPr>
          <a:xfrm>
            <a:off x="211015" y="1266092"/>
            <a:ext cx="9064869" cy="369332"/>
          </a:xfrm>
          <a:prstGeom prst="rect">
            <a:avLst/>
          </a:prstGeom>
          <a:noFill/>
        </p:spPr>
        <p:txBody>
          <a:bodyPr wrap="square" rtlCol="0">
            <a:spAutoFit/>
          </a:bodyPr>
          <a:lstStyle/>
          <a:p>
            <a:r>
              <a:rPr lang="en-IN" dirty="0">
                <a:hlinkClick r:id="rId3"/>
              </a:rPr>
              <a:t>https://traveltriangle.com/tour-packages/india?destination_type=india</a:t>
            </a:r>
            <a:r>
              <a:rPr lang="en-IN" dirty="0"/>
              <a:t> </a:t>
            </a:r>
          </a:p>
        </p:txBody>
      </p:sp>
    </p:spTree>
    <p:extLst>
      <p:ext uri="{BB962C8B-B14F-4D97-AF65-F5344CB8AC3E}">
        <p14:creationId xmlns:p14="http://schemas.microsoft.com/office/powerpoint/2010/main" val="28551179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41D5574-B797-F7CD-15BB-6C91316A6C5F}"/>
              </a:ext>
            </a:extLst>
          </p:cNvPr>
          <p:cNvSpPr txBox="1"/>
          <p:nvPr/>
        </p:nvSpPr>
        <p:spPr>
          <a:xfrm>
            <a:off x="0" y="0"/>
            <a:ext cx="9935307" cy="461665"/>
          </a:xfrm>
          <a:prstGeom prst="rect">
            <a:avLst/>
          </a:prstGeom>
          <a:noFill/>
        </p:spPr>
        <p:txBody>
          <a:bodyPr wrap="square" rtlCol="0">
            <a:spAutoFit/>
          </a:bodyPr>
          <a:lstStyle/>
          <a:p>
            <a:r>
              <a:rPr lang="en-IN" sz="2400" b="1" dirty="0">
                <a:effectLst>
                  <a:outerShdw blurRad="38100" dist="38100" dir="2700000" algn="tl">
                    <a:srgbClr val="000000">
                      <a:alpha val="43137"/>
                    </a:srgbClr>
                  </a:outerShdw>
                </a:effectLst>
              </a:rPr>
              <a:t>Package Data After Scraping from Site</a:t>
            </a:r>
          </a:p>
        </p:txBody>
      </p:sp>
      <p:pic>
        <p:nvPicPr>
          <p:cNvPr id="8" name="Picture 7">
            <a:extLst>
              <a:ext uri="{FF2B5EF4-FFF2-40B4-BE49-F238E27FC236}">
                <a16:creationId xmlns:a16="http://schemas.microsoft.com/office/drawing/2014/main" id="{18482C70-3C31-153D-735E-149A956CDB14}"/>
              </a:ext>
            </a:extLst>
          </p:cNvPr>
          <p:cNvPicPr>
            <a:picLocks noChangeAspect="1"/>
          </p:cNvPicPr>
          <p:nvPr/>
        </p:nvPicPr>
        <p:blipFill>
          <a:blip r:embed="rId2"/>
          <a:stretch>
            <a:fillRect/>
          </a:stretch>
        </p:blipFill>
        <p:spPr>
          <a:xfrm>
            <a:off x="0" y="1147501"/>
            <a:ext cx="12192000" cy="5607876"/>
          </a:xfrm>
          <a:prstGeom prst="rect">
            <a:avLst/>
          </a:prstGeom>
        </p:spPr>
      </p:pic>
    </p:spTree>
    <p:extLst>
      <p:ext uri="{BB962C8B-B14F-4D97-AF65-F5344CB8AC3E}">
        <p14:creationId xmlns:p14="http://schemas.microsoft.com/office/powerpoint/2010/main" val="4832192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9863A7-483E-C4DC-E707-6C8E8ED84A15}"/>
              </a:ext>
            </a:extLst>
          </p:cNvPr>
          <p:cNvPicPr>
            <a:picLocks noChangeAspect="1"/>
          </p:cNvPicPr>
          <p:nvPr/>
        </p:nvPicPr>
        <p:blipFill>
          <a:blip r:embed="rId2"/>
          <a:stretch>
            <a:fillRect/>
          </a:stretch>
        </p:blipFill>
        <p:spPr>
          <a:xfrm>
            <a:off x="141462" y="703750"/>
            <a:ext cx="4505954" cy="2619741"/>
          </a:xfrm>
          <a:prstGeom prst="rect">
            <a:avLst/>
          </a:prstGeom>
        </p:spPr>
      </p:pic>
      <p:pic>
        <p:nvPicPr>
          <p:cNvPr id="9" name="Picture 8">
            <a:extLst>
              <a:ext uri="{FF2B5EF4-FFF2-40B4-BE49-F238E27FC236}">
                <a16:creationId xmlns:a16="http://schemas.microsoft.com/office/drawing/2014/main" id="{1FBC9CBA-ACD6-3596-A012-C70D6C457F6A}"/>
              </a:ext>
            </a:extLst>
          </p:cNvPr>
          <p:cNvPicPr>
            <a:picLocks noChangeAspect="1"/>
          </p:cNvPicPr>
          <p:nvPr/>
        </p:nvPicPr>
        <p:blipFill>
          <a:blip r:embed="rId3"/>
          <a:stretch>
            <a:fillRect/>
          </a:stretch>
        </p:blipFill>
        <p:spPr>
          <a:xfrm>
            <a:off x="7166582" y="984183"/>
            <a:ext cx="2591162" cy="1619476"/>
          </a:xfrm>
          <a:prstGeom prst="rect">
            <a:avLst/>
          </a:prstGeom>
        </p:spPr>
      </p:pic>
      <p:pic>
        <p:nvPicPr>
          <p:cNvPr id="14" name="Picture 13">
            <a:extLst>
              <a:ext uri="{FF2B5EF4-FFF2-40B4-BE49-F238E27FC236}">
                <a16:creationId xmlns:a16="http://schemas.microsoft.com/office/drawing/2014/main" id="{B0FEDD5A-C4FC-4FD2-BBD4-9A9C8D2BE7A9}"/>
              </a:ext>
            </a:extLst>
          </p:cNvPr>
          <p:cNvPicPr>
            <a:picLocks noChangeAspect="1"/>
          </p:cNvPicPr>
          <p:nvPr/>
        </p:nvPicPr>
        <p:blipFill>
          <a:blip r:embed="rId4"/>
          <a:stretch>
            <a:fillRect/>
          </a:stretch>
        </p:blipFill>
        <p:spPr>
          <a:xfrm>
            <a:off x="7166582" y="4139452"/>
            <a:ext cx="4401164" cy="2686425"/>
          </a:xfrm>
          <a:prstGeom prst="rect">
            <a:avLst/>
          </a:prstGeom>
        </p:spPr>
      </p:pic>
      <p:sp>
        <p:nvSpPr>
          <p:cNvPr id="17" name="Arrow: Right 16">
            <a:extLst>
              <a:ext uri="{FF2B5EF4-FFF2-40B4-BE49-F238E27FC236}">
                <a16:creationId xmlns:a16="http://schemas.microsoft.com/office/drawing/2014/main" id="{B797C1AE-91CD-A28A-EE39-350455B96A77}"/>
              </a:ext>
            </a:extLst>
          </p:cNvPr>
          <p:cNvSpPr/>
          <p:nvPr/>
        </p:nvSpPr>
        <p:spPr>
          <a:xfrm rot="10800000">
            <a:off x="5141572" y="4946333"/>
            <a:ext cx="1318845" cy="59787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Arrow: Down 17">
            <a:extLst>
              <a:ext uri="{FF2B5EF4-FFF2-40B4-BE49-F238E27FC236}">
                <a16:creationId xmlns:a16="http://schemas.microsoft.com/office/drawing/2014/main" id="{9DC8D749-3BF7-0234-1ABB-D3F5101EBB2A}"/>
              </a:ext>
            </a:extLst>
          </p:cNvPr>
          <p:cNvSpPr/>
          <p:nvPr/>
        </p:nvSpPr>
        <p:spPr>
          <a:xfrm rot="16200000">
            <a:off x="5581683" y="1354197"/>
            <a:ext cx="650631" cy="131884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8EBD67F9-B65B-A1B3-E32F-D088E02D3C67}"/>
              </a:ext>
            </a:extLst>
          </p:cNvPr>
          <p:cNvSpPr txBox="1"/>
          <p:nvPr/>
        </p:nvSpPr>
        <p:spPr>
          <a:xfrm>
            <a:off x="1582615" y="72455"/>
            <a:ext cx="3437792" cy="461665"/>
          </a:xfrm>
          <a:prstGeom prst="rect">
            <a:avLst/>
          </a:prstGeom>
          <a:noFill/>
        </p:spPr>
        <p:txBody>
          <a:bodyPr wrap="square" rtlCol="0">
            <a:spAutoFit/>
          </a:bodyPr>
          <a:lstStyle/>
          <a:p>
            <a:r>
              <a:rPr lang="en-IN" sz="2400" dirty="0"/>
              <a:t>Data Has Missing Values</a:t>
            </a:r>
          </a:p>
        </p:txBody>
      </p:sp>
      <p:sp>
        <p:nvSpPr>
          <p:cNvPr id="20" name="TextBox 19">
            <a:extLst>
              <a:ext uri="{FF2B5EF4-FFF2-40B4-BE49-F238E27FC236}">
                <a16:creationId xmlns:a16="http://schemas.microsoft.com/office/drawing/2014/main" id="{FDDF9BD4-BF3A-8B25-BAE8-53C9FDA45BC3}"/>
              </a:ext>
            </a:extLst>
          </p:cNvPr>
          <p:cNvSpPr txBox="1"/>
          <p:nvPr/>
        </p:nvSpPr>
        <p:spPr>
          <a:xfrm>
            <a:off x="8704385" y="225880"/>
            <a:ext cx="3288323" cy="446276"/>
          </a:xfrm>
          <a:prstGeom prst="rect">
            <a:avLst/>
          </a:prstGeom>
          <a:noFill/>
        </p:spPr>
        <p:txBody>
          <a:bodyPr wrap="square" rtlCol="0">
            <a:spAutoFit/>
          </a:bodyPr>
          <a:lstStyle/>
          <a:p>
            <a:r>
              <a:rPr lang="en-IN" sz="2300" dirty="0"/>
              <a:t>Count Of Missing Values</a:t>
            </a:r>
          </a:p>
        </p:txBody>
      </p:sp>
      <p:sp>
        <p:nvSpPr>
          <p:cNvPr id="21" name="TextBox 20">
            <a:extLst>
              <a:ext uri="{FF2B5EF4-FFF2-40B4-BE49-F238E27FC236}">
                <a16:creationId xmlns:a16="http://schemas.microsoft.com/office/drawing/2014/main" id="{8F809F5A-8DB6-8EA6-01F5-79418E890FA2}"/>
              </a:ext>
            </a:extLst>
          </p:cNvPr>
          <p:cNvSpPr txBox="1"/>
          <p:nvPr/>
        </p:nvSpPr>
        <p:spPr>
          <a:xfrm>
            <a:off x="6905815" y="3673990"/>
            <a:ext cx="5685692" cy="400110"/>
          </a:xfrm>
          <a:prstGeom prst="rect">
            <a:avLst/>
          </a:prstGeom>
          <a:noFill/>
        </p:spPr>
        <p:txBody>
          <a:bodyPr wrap="square" rtlCol="0">
            <a:spAutoFit/>
          </a:bodyPr>
          <a:lstStyle/>
          <a:p>
            <a:r>
              <a:rPr lang="en-IN" sz="2000" dirty="0"/>
              <a:t>After Handling Missing Values and </a:t>
            </a:r>
            <a:r>
              <a:rPr lang="en-IN" sz="2000" dirty="0" err="1"/>
              <a:t>Droping</a:t>
            </a:r>
            <a:r>
              <a:rPr lang="en-IN" sz="2000" dirty="0"/>
              <a:t> rows</a:t>
            </a:r>
          </a:p>
        </p:txBody>
      </p:sp>
      <p:pic>
        <p:nvPicPr>
          <p:cNvPr id="23" name="Picture 22">
            <a:extLst>
              <a:ext uri="{FF2B5EF4-FFF2-40B4-BE49-F238E27FC236}">
                <a16:creationId xmlns:a16="http://schemas.microsoft.com/office/drawing/2014/main" id="{485E4084-68BF-A1D8-E622-80AA9E0E9AE1}"/>
              </a:ext>
            </a:extLst>
          </p:cNvPr>
          <p:cNvPicPr>
            <a:picLocks noChangeAspect="1"/>
          </p:cNvPicPr>
          <p:nvPr/>
        </p:nvPicPr>
        <p:blipFill>
          <a:blip r:embed="rId5"/>
          <a:stretch>
            <a:fillRect/>
          </a:stretch>
        </p:blipFill>
        <p:spPr>
          <a:xfrm>
            <a:off x="2122939" y="4610985"/>
            <a:ext cx="2524477" cy="1543265"/>
          </a:xfrm>
          <a:prstGeom prst="rect">
            <a:avLst/>
          </a:prstGeom>
        </p:spPr>
      </p:pic>
      <p:sp>
        <p:nvSpPr>
          <p:cNvPr id="24" name="Arrow: Down 23">
            <a:extLst>
              <a:ext uri="{FF2B5EF4-FFF2-40B4-BE49-F238E27FC236}">
                <a16:creationId xmlns:a16="http://schemas.microsoft.com/office/drawing/2014/main" id="{021549EB-4172-FB27-C2A6-AE8B622F978D}"/>
              </a:ext>
            </a:extLst>
          </p:cNvPr>
          <p:cNvSpPr/>
          <p:nvPr/>
        </p:nvSpPr>
        <p:spPr>
          <a:xfrm>
            <a:off x="8053754" y="2742840"/>
            <a:ext cx="650631" cy="79196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385FA4ED-A75D-8965-07BA-033692766B4D}"/>
              </a:ext>
            </a:extLst>
          </p:cNvPr>
          <p:cNvSpPr txBox="1"/>
          <p:nvPr/>
        </p:nvSpPr>
        <p:spPr>
          <a:xfrm>
            <a:off x="1232933" y="3908619"/>
            <a:ext cx="3629214" cy="461665"/>
          </a:xfrm>
          <a:prstGeom prst="rect">
            <a:avLst/>
          </a:prstGeom>
          <a:noFill/>
        </p:spPr>
        <p:txBody>
          <a:bodyPr wrap="square" rtlCol="0">
            <a:spAutoFit/>
          </a:bodyPr>
          <a:lstStyle/>
          <a:p>
            <a:r>
              <a:rPr lang="en-IN" sz="2300" dirty="0"/>
              <a:t>Data has No Missing Values</a:t>
            </a:r>
          </a:p>
        </p:txBody>
      </p:sp>
    </p:spTree>
    <p:extLst>
      <p:ext uri="{BB962C8B-B14F-4D97-AF65-F5344CB8AC3E}">
        <p14:creationId xmlns:p14="http://schemas.microsoft.com/office/powerpoint/2010/main" val="30703562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0D2848A-AC0D-1CB0-3B15-CDD4DDF35AAC}"/>
              </a:ext>
            </a:extLst>
          </p:cNvPr>
          <p:cNvPicPr>
            <a:picLocks noChangeAspect="1"/>
          </p:cNvPicPr>
          <p:nvPr/>
        </p:nvPicPr>
        <p:blipFill>
          <a:blip r:embed="rId2"/>
          <a:stretch>
            <a:fillRect/>
          </a:stretch>
        </p:blipFill>
        <p:spPr>
          <a:xfrm>
            <a:off x="5373441" y="3121268"/>
            <a:ext cx="5793683" cy="3622431"/>
          </a:xfrm>
          <a:prstGeom prst="rect">
            <a:avLst/>
          </a:prstGeom>
        </p:spPr>
      </p:pic>
      <p:sp>
        <p:nvSpPr>
          <p:cNvPr id="10" name="TextBox 9">
            <a:extLst>
              <a:ext uri="{FF2B5EF4-FFF2-40B4-BE49-F238E27FC236}">
                <a16:creationId xmlns:a16="http://schemas.microsoft.com/office/drawing/2014/main" id="{C7B93915-CD94-129C-96E9-05F3F581DDEC}"/>
              </a:ext>
            </a:extLst>
          </p:cNvPr>
          <p:cNvSpPr txBox="1"/>
          <p:nvPr/>
        </p:nvSpPr>
        <p:spPr>
          <a:xfrm>
            <a:off x="-70338" y="0"/>
            <a:ext cx="3903784" cy="461665"/>
          </a:xfrm>
          <a:prstGeom prst="rect">
            <a:avLst/>
          </a:prstGeom>
          <a:noFill/>
        </p:spPr>
        <p:txBody>
          <a:bodyPr wrap="square" rtlCol="0">
            <a:spAutoFit/>
          </a:bodyPr>
          <a:lstStyle/>
          <a:p>
            <a:r>
              <a:rPr lang="en-IN" sz="2400" b="1" dirty="0">
                <a:effectLst>
                  <a:outerShdw blurRad="38100" dist="38100" dir="2700000" algn="tl">
                    <a:srgbClr val="000000">
                      <a:alpha val="43137"/>
                    </a:srgbClr>
                  </a:outerShdw>
                </a:effectLst>
              </a:rPr>
              <a:t>Summary Of Data</a:t>
            </a:r>
          </a:p>
        </p:txBody>
      </p:sp>
      <p:pic>
        <p:nvPicPr>
          <p:cNvPr id="14" name="Picture 13">
            <a:extLst>
              <a:ext uri="{FF2B5EF4-FFF2-40B4-BE49-F238E27FC236}">
                <a16:creationId xmlns:a16="http://schemas.microsoft.com/office/drawing/2014/main" id="{36EDD87E-6B0A-7C4B-35E5-459528DE8170}"/>
              </a:ext>
            </a:extLst>
          </p:cNvPr>
          <p:cNvPicPr>
            <a:picLocks noChangeAspect="1"/>
          </p:cNvPicPr>
          <p:nvPr/>
        </p:nvPicPr>
        <p:blipFill>
          <a:blip r:embed="rId3"/>
          <a:stretch>
            <a:fillRect/>
          </a:stretch>
        </p:blipFill>
        <p:spPr>
          <a:xfrm>
            <a:off x="290147" y="573071"/>
            <a:ext cx="3648807" cy="2390825"/>
          </a:xfrm>
          <a:prstGeom prst="rect">
            <a:avLst/>
          </a:prstGeom>
        </p:spPr>
      </p:pic>
      <p:sp>
        <p:nvSpPr>
          <p:cNvPr id="15" name="TextBox 14">
            <a:extLst>
              <a:ext uri="{FF2B5EF4-FFF2-40B4-BE49-F238E27FC236}">
                <a16:creationId xmlns:a16="http://schemas.microsoft.com/office/drawing/2014/main" id="{27A0B8CF-B841-E5C6-274B-559D122424AA}"/>
              </a:ext>
            </a:extLst>
          </p:cNvPr>
          <p:cNvSpPr txBox="1"/>
          <p:nvPr/>
        </p:nvSpPr>
        <p:spPr>
          <a:xfrm>
            <a:off x="4668715" y="580292"/>
            <a:ext cx="6216162" cy="817685"/>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21748869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70F61C3-E5D1-147D-ED28-D13558EF078E}"/>
              </a:ext>
            </a:extLst>
          </p:cNvPr>
          <p:cNvSpPr txBox="1"/>
          <p:nvPr/>
        </p:nvSpPr>
        <p:spPr>
          <a:xfrm>
            <a:off x="-79131" y="0"/>
            <a:ext cx="9478108" cy="461665"/>
          </a:xfrm>
          <a:prstGeom prst="rect">
            <a:avLst/>
          </a:prstGeom>
          <a:noFill/>
        </p:spPr>
        <p:txBody>
          <a:bodyPr wrap="square" rtlCol="0">
            <a:spAutoFit/>
          </a:bodyPr>
          <a:lstStyle/>
          <a:p>
            <a:r>
              <a:rPr lang="en-IN" sz="2400" b="1" dirty="0">
                <a:effectLst>
                  <a:outerShdw blurRad="38100" dist="38100" dir="2700000" algn="tl">
                    <a:srgbClr val="000000">
                      <a:alpha val="43137"/>
                    </a:srgbClr>
                  </a:outerShdw>
                </a:effectLst>
              </a:rPr>
              <a:t>We Clean Package Price</a:t>
            </a:r>
          </a:p>
        </p:txBody>
      </p:sp>
      <p:pic>
        <p:nvPicPr>
          <p:cNvPr id="6" name="Picture 5">
            <a:extLst>
              <a:ext uri="{FF2B5EF4-FFF2-40B4-BE49-F238E27FC236}">
                <a16:creationId xmlns:a16="http://schemas.microsoft.com/office/drawing/2014/main" id="{90E6AC15-5D07-102F-6E44-ED47387619A7}"/>
              </a:ext>
            </a:extLst>
          </p:cNvPr>
          <p:cNvPicPr>
            <a:picLocks noChangeAspect="1"/>
          </p:cNvPicPr>
          <p:nvPr/>
        </p:nvPicPr>
        <p:blipFill>
          <a:blip r:embed="rId2"/>
          <a:stretch>
            <a:fillRect/>
          </a:stretch>
        </p:blipFill>
        <p:spPr>
          <a:xfrm>
            <a:off x="630115" y="1332140"/>
            <a:ext cx="1219370" cy="5231422"/>
          </a:xfrm>
          <a:prstGeom prst="rect">
            <a:avLst/>
          </a:prstGeom>
        </p:spPr>
      </p:pic>
      <p:pic>
        <p:nvPicPr>
          <p:cNvPr id="10" name="Picture 9">
            <a:extLst>
              <a:ext uri="{FF2B5EF4-FFF2-40B4-BE49-F238E27FC236}">
                <a16:creationId xmlns:a16="http://schemas.microsoft.com/office/drawing/2014/main" id="{0B2D0688-EB3C-A752-D2C7-FD2BC6094676}"/>
              </a:ext>
            </a:extLst>
          </p:cNvPr>
          <p:cNvPicPr>
            <a:picLocks noChangeAspect="1"/>
          </p:cNvPicPr>
          <p:nvPr/>
        </p:nvPicPr>
        <p:blipFill>
          <a:blip r:embed="rId3"/>
          <a:stretch>
            <a:fillRect/>
          </a:stretch>
        </p:blipFill>
        <p:spPr>
          <a:xfrm>
            <a:off x="10501943" y="1349724"/>
            <a:ext cx="1457528" cy="5231422"/>
          </a:xfrm>
          <a:prstGeom prst="rect">
            <a:avLst/>
          </a:prstGeom>
        </p:spPr>
      </p:pic>
      <p:pic>
        <p:nvPicPr>
          <p:cNvPr id="17" name="Picture 16">
            <a:extLst>
              <a:ext uri="{FF2B5EF4-FFF2-40B4-BE49-F238E27FC236}">
                <a16:creationId xmlns:a16="http://schemas.microsoft.com/office/drawing/2014/main" id="{393E17F9-CC0B-5BA6-95EF-0DDA1C9761EF}"/>
              </a:ext>
            </a:extLst>
          </p:cNvPr>
          <p:cNvPicPr>
            <a:picLocks noChangeAspect="1"/>
          </p:cNvPicPr>
          <p:nvPr/>
        </p:nvPicPr>
        <p:blipFill>
          <a:blip r:embed="rId4"/>
          <a:stretch>
            <a:fillRect/>
          </a:stretch>
        </p:blipFill>
        <p:spPr>
          <a:xfrm>
            <a:off x="5586111" y="1332140"/>
            <a:ext cx="1457528" cy="5231421"/>
          </a:xfrm>
          <a:prstGeom prst="rect">
            <a:avLst/>
          </a:prstGeom>
        </p:spPr>
      </p:pic>
      <p:cxnSp>
        <p:nvCxnSpPr>
          <p:cNvPr id="18" name="Straight Arrow Connector 17">
            <a:extLst>
              <a:ext uri="{FF2B5EF4-FFF2-40B4-BE49-F238E27FC236}">
                <a16:creationId xmlns:a16="http://schemas.microsoft.com/office/drawing/2014/main" id="{BD25E92F-6833-78C5-EF2A-81730AE81D7D}"/>
              </a:ext>
            </a:extLst>
          </p:cNvPr>
          <p:cNvCxnSpPr>
            <a:cxnSpLocks/>
          </p:cNvCxnSpPr>
          <p:nvPr/>
        </p:nvCxnSpPr>
        <p:spPr>
          <a:xfrm>
            <a:off x="2154115" y="2461847"/>
            <a:ext cx="8440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13E05C3-FC09-6349-C9A2-E761B73EED7D}"/>
              </a:ext>
            </a:extLst>
          </p:cNvPr>
          <p:cNvCxnSpPr>
            <a:cxnSpLocks/>
          </p:cNvCxnSpPr>
          <p:nvPr/>
        </p:nvCxnSpPr>
        <p:spPr>
          <a:xfrm>
            <a:off x="8329246" y="2288932"/>
            <a:ext cx="8440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0BA2848-27E0-0986-D6AD-0A75A137653C}"/>
              </a:ext>
            </a:extLst>
          </p:cNvPr>
          <p:cNvSpPr txBox="1"/>
          <p:nvPr/>
        </p:nvSpPr>
        <p:spPr>
          <a:xfrm>
            <a:off x="7640516" y="3103685"/>
            <a:ext cx="2417885" cy="646331"/>
          </a:xfrm>
          <a:prstGeom prst="rect">
            <a:avLst/>
          </a:prstGeom>
          <a:noFill/>
        </p:spPr>
        <p:txBody>
          <a:bodyPr wrap="square" rtlCol="0">
            <a:spAutoFit/>
          </a:bodyPr>
          <a:lstStyle/>
          <a:p>
            <a:r>
              <a:rPr lang="en-US" dirty="0"/>
              <a:t>Removed currency symbols (₹) from price</a:t>
            </a:r>
            <a:endParaRPr lang="en-IN" dirty="0"/>
          </a:p>
        </p:txBody>
      </p:sp>
    </p:spTree>
    <p:extLst>
      <p:ext uri="{BB962C8B-B14F-4D97-AF65-F5344CB8AC3E}">
        <p14:creationId xmlns:p14="http://schemas.microsoft.com/office/powerpoint/2010/main" val="23768881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AA3051-C905-6618-E9FB-914B5B207A38}"/>
              </a:ext>
            </a:extLst>
          </p:cNvPr>
          <p:cNvSpPr txBox="1"/>
          <p:nvPr/>
        </p:nvSpPr>
        <p:spPr>
          <a:xfrm>
            <a:off x="0" y="0"/>
            <a:ext cx="9478108"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Converted price, discount, days, nights into numeric format</a:t>
            </a:r>
            <a:endParaRPr lang="en-IN" sz="2400" b="1" dirty="0">
              <a:effectLst>
                <a:outerShdw blurRad="38100" dist="38100" dir="2700000" algn="tl">
                  <a:srgbClr val="000000">
                    <a:alpha val="43137"/>
                  </a:srgbClr>
                </a:outerShdw>
              </a:effectLst>
            </a:endParaRPr>
          </a:p>
        </p:txBody>
      </p:sp>
      <p:pic>
        <p:nvPicPr>
          <p:cNvPr id="8" name="Picture 7">
            <a:extLst>
              <a:ext uri="{FF2B5EF4-FFF2-40B4-BE49-F238E27FC236}">
                <a16:creationId xmlns:a16="http://schemas.microsoft.com/office/drawing/2014/main" id="{65C49EF3-045D-8908-8EC3-0FC9C667EAA1}"/>
              </a:ext>
            </a:extLst>
          </p:cNvPr>
          <p:cNvPicPr>
            <a:picLocks noChangeAspect="1"/>
          </p:cNvPicPr>
          <p:nvPr/>
        </p:nvPicPr>
        <p:blipFill>
          <a:blip r:embed="rId2"/>
          <a:stretch>
            <a:fillRect/>
          </a:stretch>
        </p:blipFill>
        <p:spPr>
          <a:xfrm>
            <a:off x="4101381" y="1055076"/>
            <a:ext cx="1952880" cy="5671038"/>
          </a:xfrm>
          <a:prstGeom prst="rect">
            <a:avLst/>
          </a:prstGeom>
        </p:spPr>
      </p:pic>
      <p:pic>
        <p:nvPicPr>
          <p:cNvPr id="10" name="Picture 9">
            <a:extLst>
              <a:ext uri="{FF2B5EF4-FFF2-40B4-BE49-F238E27FC236}">
                <a16:creationId xmlns:a16="http://schemas.microsoft.com/office/drawing/2014/main" id="{583A3053-6495-17D0-61D0-71204A7390D2}"/>
              </a:ext>
            </a:extLst>
          </p:cNvPr>
          <p:cNvPicPr>
            <a:picLocks noChangeAspect="1"/>
          </p:cNvPicPr>
          <p:nvPr/>
        </p:nvPicPr>
        <p:blipFill>
          <a:blip r:embed="rId3"/>
          <a:stretch>
            <a:fillRect/>
          </a:stretch>
        </p:blipFill>
        <p:spPr>
          <a:xfrm>
            <a:off x="6096000" y="1055076"/>
            <a:ext cx="819126" cy="5671038"/>
          </a:xfrm>
          <a:prstGeom prst="rect">
            <a:avLst/>
          </a:prstGeom>
        </p:spPr>
      </p:pic>
      <p:pic>
        <p:nvPicPr>
          <p:cNvPr id="12" name="Picture 11">
            <a:extLst>
              <a:ext uri="{FF2B5EF4-FFF2-40B4-BE49-F238E27FC236}">
                <a16:creationId xmlns:a16="http://schemas.microsoft.com/office/drawing/2014/main" id="{D4B1885C-7902-135A-17AD-6576EAC78362}"/>
              </a:ext>
            </a:extLst>
          </p:cNvPr>
          <p:cNvPicPr>
            <a:picLocks noChangeAspect="1"/>
          </p:cNvPicPr>
          <p:nvPr/>
        </p:nvPicPr>
        <p:blipFill>
          <a:blip r:embed="rId4"/>
          <a:stretch>
            <a:fillRect/>
          </a:stretch>
        </p:blipFill>
        <p:spPr>
          <a:xfrm>
            <a:off x="8909466" y="914399"/>
            <a:ext cx="3130208" cy="5671038"/>
          </a:xfrm>
          <a:prstGeom prst="rect">
            <a:avLst/>
          </a:prstGeom>
        </p:spPr>
      </p:pic>
      <p:cxnSp>
        <p:nvCxnSpPr>
          <p:cNvPr id="15" name="Straight Arrow Connector 14">
            <a:extLst>
              <a:ext uri="{FF2B5EF4-FFF2-40B4-BE49-F238E27FC236}">
                <a16:creationId xmlns:a16="http://schemas.microsoft.com/office/drawing/2014/main" id="{E4C270FC-10D6-D477-F831-48CA6AE00186}"/>
              </a:ext>
            </a:extLst>
          </p:cNvPr>
          <p:cNvCxnSpPr>
            <a:cxnSpLocks/>
          </p:cNvCxnSpPr>
          <p:nvPr/>
        </p:nvCxnSpPr>
        <p:spPr>
          <a:xfrm>
            <a:off x="7051431" y="2927839"/>
            <a:ext cx="175252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25CD282-4492-6A24-4EE9-8FDE5DD2C848}"/>
              </a:ext>
            </a:extLst>
          </p:cNvPr>
          <p:cNvSpPr txBox="1"/>
          <p:nvPr/>
        </p:nvSpPr>
        <p:spPr>
          <a:xfrm>
            <a:off x="111290" y="479249"/>
            <a:ext cx="3991501" cy="646331"/>
          </a:xfrm>
          <a:prstGeom prst="rect">
            <a:avLst/>
          </a:prstGeom>
          <a:noFill/>
        </p:spPr>
        <p:txBody>
          <a:bodyPr wrap="square">
            <a:spAutoFit/>
          </a:bodyPr>
          <a:lstStyle/>
          <a:p>
            <a:r>
              <a:rPr lang="en-IN" dirty="0"/>
              <a:t>Here, We extracted the numerical values and removed the “</a:t>
            </a:r>
            <a:r>
              <a:rPr lang="en-IN" dirty="0" err="1"/>
              <a:t>str”,”symbols”,”chars</a:t>
            </a:r>
            <a:r>
              <a:rPr lang="en-IN" dirty="0"/>
              <a:t>”.</a:t>
            </a:r>
          </a:p>
        </p:txBody>
      </p:sp>
    </p:spTree>
    <p:extLst>
      <p:ext uri="{BB962C8B-B14F-4D97-AF65-F5344CB8AC3E}">
        <p14:creationId xmlns:p14="http://schemas.microsoft.com/office/powerpoint/2010/main" val="15330734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B0DD01-47FC-885B-B9F4-0605CAFE7E71}"/>
              </a:ext>
            </a:extLst>
          </p:cNvPr>
          <p:cNvPicPr>
            <a:picLocks noChangeAspect="1"/>
          </p:cNvPicPr>
          <p:nvPr/>
        </p:nvPicPr>
        <p:blipFill>
          <a:blip r:embed="rId2"/>
          <a:stretch>
            <a:fillRect/>
          </a:stretch>
        </p:blipFill>
        <p:spPr>
          <a:xfrm>
            <a:off x="340980" y="2419360"/>
            <a:ext cx="4872859" cy="3752840"/>
          </a:xfrm>
          <a:prstGeom prst="rect">
            <a:avLst/>
          </a:prstGeom>
        </p:spPr>
      </p:pic>
      <p:pic>
        <p:nvPicPr>
          <p:cNvPr id="5" name="Picture 4">
            <a:extLst>
              <a:ext uri="{FF2B5EF4-FFF2-40B4-BE49-F238E27FC236}">
                <a16:creationId xmlns:a16="http://schemas.microsoft.com/office/drawing/2014/main" id="{2378813C-70C1-639B-9C6E-0507A23E8D38}"/>
              </a:ext>
            </a:extLst>
          </p:cNvPr>
          <p:cNvPicPr>
            <a:picLocks noChangeAspect="1"/>
          </p:cNvPicPr>
          <p:nvPr/>
        </p:nvPicPr>
        <p:blipFill>
          <a:blip r:embed="rId3"/>
          <a:stretch>
            <a:fillRect/>
          </a:stretch>
        </p:blipFill>
        <p:spPr>
          <a:xfrm>
            <a:off x="6434050" y="2419360"/>
            <a:ext cx="4872859" cy="3752840"/>
          </a:xfrm>
          <a:prstGeom prst="rect">
            <a:avLst/>
          </a:prstGeom>
        </p:spPr>
      </p:pic>
      <p:sp>
        <p:nvSpPr>
          <p:cNvPr id="7" name="TextBox 6">
            <a:extLst>
              <a:ext uri="{FF2B5EF4-FFF2-40B4-BE49-F238E27FC236}">
                <a16:creationId xmlns:a16="http://schemas.microsoft.com/office/drawing/2014/main" id="{1FACE771-EF80-AF71-AF80-DC01C9267863}"/>
              </a:ext>
            </a:extLst>
          </p:cNvPr>
          <p:cNvSpPr txBox="1"/>
          <p:nvPr/>
        </p:nvSpPr>
        <p:spPr>
          <a:xfrm>
            <a:off x="70339" y="795704"/>
            <a:ext cx="4994031" cy="923330"/>
          </a:xfrm>
          <a:prstGeom prst="rect">
            <a:avLst/>
          </a:prstGeom>
          <a:noFill/>
        </p:spPr>
        <p:txBody>
          <a:bodyPr wrap="square" rtlCol="0">
            <a:spAutoFit/>
          </a:bodyPr>
          <a:lstStyle/>
          <a:p>
            <a:pPr marL="285750" indent="-285750">
              <a:buFont typeface="Arial" panose="020B0604020202020204" pitchFamily="34" charset="0"/>
              <a:buChar char="•"/>
            </a:pPr>
            <a:r>
              <a:rPr lang="en-US" dirty="0"/>
              <a:t>Most travel packages are concentrated in the low to mid-price range, with a few high-priced outliers indicating limited premium offerings</a:t>
            </a:r>
            <a:endParaRPr lang="en-IN" dirty="0"/>
          </a:p>
        </p:txBody>
      </p:sp>
      <p:sp>
        <p:nvSpPr>
          <p:cNvPr id="8" name="TextBox 7">
            <a:extLst>
              <a:ext uri="{FF2B5EF4-FFF2-40B4-BE49-F238E27FC236}">
                <a16:creationId xmlns:a16="http://schemas.microsoft.com/office/drawing/2014/main" id="{AE3A5D74-364B-17D8-A211-AB866B0CD1BE}"/>
              </a:ext>
            </a:extLst>
          </p:cNvPr>
          <p:cNvSpPr txBox="1"/>
          <p:nvPr/>
        </p:nvSpPr>
        <p:spPr>
          <a:xfrm>
            <a:off x="6312878" y="-8792"/>
            <a:ext cx="4994031" cy="400110"/>
          </a:xfrm>
          <a:prstGeom prst="rect">
            <a:avLst/>
          </a:prstGeom>
          <a:noFill/>
        </p:spPr>
        <p:txBody>
          <a:bodyPr wrap="square" rtlCol="0">
            <a:spAutoFit/>
          </a:bodyPr>
          <a:lstStyle/>
          <a:p>
            <a:r>
              <a:rPr lang="en-IN" sz="2000" b="1" dirty="0">
                <a:effectLst>
                  <a:outerShdw blurRad="38100" dist="38100" dir="2700000" algn="tl">
                    <a:srgbClr val="000000">
                      <a:alpha val="43137"/>
                    </a:srgbClr>
                  </a:outerShdw>
                </a:effectLst>
              </a:rPr>
              <a:t>Identify most popular destinations</a:t>
            </a:r>
          </a:p>
        </p:txBody>
      </p:sp>
      <p:sp>
        <p:nvSpPr>
          <p:cNvPr id="9" name="TextBox 8">
            <a:extLst>
              <a:ext uri="{FF2B5EF4-FFF2-40B4-BE49-F238E27FC236}">
                <a16:creationId xmlns:a16="http://schemas.microsoft.com/office/drawing/2014/main" id="{BCECA399-9398-3DC7-6098-3B7A085A22CD}"/>
              </a:ext>
            </a:extLst>
          </p:cNvPr>
          <p:cNvSpPr txBox="1"/>
          <p:nvPr/>
        </p:nvSpPr>
        <p:spPr>
          <a:xfrm>
            <a:off x="-1" y="0"/>
            <a:ext cx="3912577" cy="707886"/>
          </a:xfrm>
          <a:prstGeom prst="rect">
            <a:avLst/>
          </a:prstGeom>
          <a:noFill/>
        </p:spPr>
        <p:txBody>
          <a:bodyPr wrap="square" rtlCol="0">
            <a:spAutoFit/>
          </a:bodyPr>
          <a:lstStyle/>
          <a:p>
            <a:r>
              <a:rPr lang="en-US" sz="2000" b="1" dirty="0">
                <a:effectLst>
                  <a:outerShdw blurRad="38100" dist="38100" dir="2700000" algn="tl">
                    <a:srgbClr val="000000">
                      <a:alpha val="43137"/>
                    </a:srgbClr>
                  </a:outerShdw>
                </a:effectLst>
              </a:rPr>
              <a:t>Price Range Analysis of Travel Packages</a:t>
            </a:r>
            <a:endParaRPr lang="en-IN" sz="2000" b="1" dirty="0">
              <a:effectLst>
                <a:outerShdw blurRad="38100" dist="38100" dir="2700000" algn="tl">
                  <a:srgbClr val="000000">
                    <a:alpha val="43137"/>
                  </a:srgbClr>
                </a:outerShdw>
              </a:effectLst>
            </a:endParaRPr>
          </a:p>
        </p:txBody>
      </p:sp>
      <p:sp>
        <p:nvSpPr>
          <p:cNvPr id="10" name="TextBox 9">
            <a:extLst>
              <a:ext uri="{FF2B5EF4-FFF2-40B4-BE49-F238E27FC236}">
                <a16:creationId xmlns:a16="http://schemas.microsoft.com/office/drawing/2014/main" id="{E5D2B0FB-7B53-8D2E-5997-2F245103B36E}"/>
              </a:ext>
            </a:extLst>
          </p:cNvPr>
          <p:cNvSpPr txBox="1"/>
          <p:nvPr/>
        </p:nvSpPr>
        <p:spPr>
          <a:xfrm>
            <a:off x="6406661" y="795703"/>
            <a:ext cx="5715000" cy="1200329"/>
          </a:xfrm>
          <a:prstGeom prst="rect">
            <a:avLst/>
          </a:prstGeom>
          <a:noFill/>
        </p:spPr>
        <p:txBody>
          <a:bodyPr wrap="square" rtlCol="0">
            <a:spAutoFit/>
          </a:bodyPr>
          <a:lstStyle/>
          <a:p>
            <a:pPr marL="285750" indent="-285750">
              <a:buFont typeface="Arial" panose="020B0604020202020204" pitchFamily="34" charset="0"/>
              <a:buChar char="•"/>
            </a:pPr>
            <a:r>
              <a:rPr lang="en-US" dirty="0"/>
              <a:t>Popular tourist destinations have significantly higher package availability compared to other cities.</a:t>
            </a:r>
          </a:p>
          <a:p>
            <a:pPr marL="285750" indent="-285750">
              <a:buFont typeface="Arial" panose="020B0604020202020204" pitchFamily="34" charset="0"/>
              <a:buChar char="•"/>
            </a:pPr>
            <a:r>
              <a:rPr lang="en-US" dirty="0"/>
              <a:t>Travel packages are heavily concentrated in a few high-demand destinations.</a:t>
            </a:r>
            <a:endParaRPr lang="en-IN" dirty="0"/>
          </a:p>
        </p:txBody>
      </p:sp>
    </p:spTree>
    <p:extLst>
      <p:ext uri="{BB962C8B-B14F-4D97-AF65-F5344CB8AC3E}">
        <p14:creationId xmlns:p14="http://schemas.microsoft.com/office/powerpoint/2010/main" val="39253881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0D9CFE6-1735-2396-45AE-A8A21753B8A0}"/>
              </a:ext>
            </a:extLst>
          </p:cNvPr>
          <p:cNvPicPr>
            <a:picLocks noChangeAspect="1"/>
          </p:cNvPicPr>
          <p:nvPr/>
        </p:nvPicPr>
        <p:blipFill>
          <a:blip r:embed="rId2"/>
          <a:stretch>
            <a:fillRect/>
          </a:stretch>
        </p:blipFill>
        <p:spPr>
          <a:xfrm>
            <a:off x="202222" y="1740876"/>
            <a:ext cx="8610369" cy="4589585"/>
          </a:xfrm>
          <a:prstGeom prst="rect">
            <a:avLst/>
          </a:prstGeom>
        </p:spPr>
      </p:pic>
      <p:sp>
        <p:nvSpPr>
          <p:cNvPr id="6" name="TextBox 5">
            <a:extLst>
              <a:ext uri="{FF2B5EF4-FFF2-40B4-BE49-F238E27FC236}">
                <a16:creationId xmlns:a16="http://schemas.microsoft.com/office/drawing/2014/main" id="{E1CED3AC-8B8A-FFF7-88CD-9E8398672F4B}"/>
              </a:ext>
            </a:extLst>
          </p:cNvPr>
          <p:cNvSpPr txBox="1"/>
          <p:nvPr/>
        </p:nvSpPr>
        <p:spPr>
          <a:xfrm>
            <a:off x="202222" y="448549"/>
            <a:ext cx="11535507" cy="923330"/>
          </a:xfrm>
          <a:prstGeom prst="rect">
            <a:avLst/>
          </a:prstGeom>
          <a:noFill/>
        </p:spPr>
        <p:txBody>
          <a:bodyPr wrap="square" rtlCol="0">
            <a:spAutoFit/>
          </a:bodyPr>
          <a:lstStyle/>
          <a:p>
            <a:pPr marL="285750" indent="-285750" algn="thaiDist">
              <a:buFont typeface="Arial" panose="020B0604020202020204" pitchFamily="34" charset="0"/>
              <a:buChar char="•"/>
            </a:pPr>
            <a:r>
              <a:rPr lang="en-IN" dirty="0"/>
              <a:t>Understand Market Segmentation</a:t>
            </a:r>
          </a:p>
          <a:p>
            <a:pPr marL="285750" indent="-285750" algn="thaiDist">
              <a:buFont typeface="Arial" panose="020B0604020202020204" pitchFamily="34" charset="0"/>
              <a:buChar char="•"/>
            </a:pPr>
            <a:r>
              <a:rPr lang="en-US" dirty="0"/>
              <a:t>Most travel packages include </a:t>
            </a:r>
            <a:r>
              <a:rPr lang="en-US" b="1" dirty="0"/>
              <a:t>3-star hotels</a:t>
            </a:r>
            <a:r>
              <a:rPr lang="en-US" dirty="0"/>
              <a:t>, showing a preference for economical accommodation.</a:t>
            </a:r>
          </a:p>
          <a:p>
            <a:pPr marL="285750" indent="-285750" algn="thaiDist">
              <a:buFont typeface="Arial" panose="020B0604020202020204" pitchFamily="34" charset="0"/>
              <a:buChar char="•"/>
            </a:pPr>
            <a:r>
              <a:rPr lang="en-US" dirty="0"/>
              <a:t>Packages with </a:t>
            </a:r>
            <a:r>
              <a:rPr lang="en-US" b="1" dirty="0"/>
              <a:t>4-star and 5-star hotels</a:t>
            </a:r>
            <a:r>
              <a:rPr lang="en-US" dirty="0"/>
              <a:t> are comparatively fewer and cater to a niche segment.</a:t>
            </a:r>
          </a:p>
        </p:txBody>
      </p:sp>
      <p:sp>
        <p:nvSpPr>
          <p:cNvPr id="13" name="TextBox 12">
            <a:extLst>
              <a:ext uri="{FF2B5EF4-FFF2-40B4-BE49-F238E27FC236}">
                <a16:creationId xmlns:a16="http://schemas.microsoft.com/office/drawing/2014/main" id="{9D34DF7E-7F84-518D-CD77-0DA762ECD6F8}"/>
              </a:ext>
            </a:extLst>
          </p:cNvPr>
          <p:cNvSpPr txBox="1"/>
          <p:nvPr/>
        </p:nvSpPr>
        <p:spPr>
          <a:xfrm>
            <a:off x="-79131" y="-61516"/>
            <a:ext cx="3631223" cy="738664"/>
          </a:xfrm>
          <a:prstGeom prst="rect">
            <a:avLst/>
          </a:prstGeom>
          <a:noFill/>
        </p:spPr>
        <p:txBody>
          <a:bodyPr wrap="square" rtlCol="0">
            <a:spAutoFit/>
          </a:bodyPr>
          <a:lstStyle/>
          <a:p>
            <a:r>
              <a:rPr lang="en-IN" sz="2400" b="1" dirty="0">
                <a:effectLst>
                  <a:outerShdw blurRad="38100" dist="38100" dir="2700000" algn="tl">
                    <a:srgbClr val="000000">
                      <a:alpha val="43137"/>
                    </a:srgbClr>
                  </a:outerShdw>
                </a:effectLst>
              </a:rPr>
              <a:t>Hotel Rating Analysis</a:t>
            </a:r>
          </a:p>
          <a:p>
            <a:endParaRPr lang="en-IN" dirty="0"/>
          </a:p>
        </p:txBody>
      </p:sp>
    </p:spTree>
    <p:extLst>
      <p:ext uri="{BB962C8B-B14F-4D97-AF65-F5344CB8AC3E}">
        <p14:creationId xmlns:p14="http://schemas.microsoft.com/office/powerpoint/2010/main" val="10081716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CF785D-46A7-0315-2C99-41BCCF44D6FF}"/>
              </a:ext>
            </a:extLst>
          </p:cNvPr>
          <p:cNvPicPr>
            <a:picLocks noChangeAspect="1"/>
          </p:cNvPicPr>
          <p:nvPr/>
        </p:nvPicPr>
        <p:blipFill>
          <a:blip r:embed="rId2"/>
          <a:stretch>
            <a:fillRect/>
          </a:stretch>
        </p:blipFill>
        <p:spPr>
          <a:xfrm>
            <a:off x="276966" y="1846384"/>
            <a:ext cx="5500489" cy="4270117"/>
          </a:xfrm>
          <a:prstGeom prst="rect">
            <a:avLst/>
          </a:prstGeom>
        </p:spPr>
      </p:pic>
      <p:pic>
        <p:nvPicPr>
          <p:cNvPr id="5" name="Picture 4">
            <a:extLst>
              <a:ext uri="{FF2B5EF4-FFF2-40B4-BE49-F238E27FC236}">
                <a16:creationId xmlns:a16="http://schemas.microsoft.com/office/drawing/2014/main" id="{76C0159A-F465-5C61-6322-2772CEA4880E}"/>
              </a:ext>
            </a:extLst>
          </p:cNvPr>
          <p:cNvPicPr>
            <a:picLocks noChangeAspect="1"/>
          </p:cNvPicPr>
          <p:nvPr/>
        </p:nvPicPr>
        <p:blipFill>
          <a:blip r:embed="rId3"/>
          <a:stretch>
            <a:fillRect/>
          </a:stretch>
        </p:blipFill>
        <p:spPr>
          <a:xfrm>
            <a:off x="5993715" y="1846384"/>
            <a:ext cx="5921319" cy="4035670"/>
          </a:xfrm>
          <a:prstGeom prst="rect">
            <a:avLst/>
          </a:prstGeom>
        </p:spPr>
      </p:pic>
      <p:sp>
        <p:nvSpPr>
          <p:cNvPr id="6" name="TextBox 5">
            <a:extLst>
              <a:ext uri="{FF2B5EF4-FFF2-40B4-BE49-F238E27FC236}">
                <a16:creationId xmlns:a16="http://schemas.microsoft.com/office/drawing/2014/main" id="{AB1B385B-FB69-365B-DF05-0F41F54597AB}"/>
              </a:ext>
            </a:extLst>
          </p:cNvPr>
          <p:cNvSpPr txBox="1"/>
          <p:nvPr/>
        </p:nvSpPr>
        <p:spPr>
          <a:xfrm>
            <a:off x="-83519" y="0"/>
            <a:ext cx="4470881" cy="738664"/>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Measure impact of price on rating</a:t>
            </a:r>
          </a:p>
          <a:p>
            <a:endParaRPr lang="en-IN" dirty="0"/>
          </a:p>
        </p:txBody>
      </p:sp>
      <p:sp>
        <p:nvSpPr>
          <p:cNvPr id="7" name="TextBox 6">
            <a:extLst>
              <a:ext uri="{FF2B5EF4-FFF2-40B4-BE49-F238E27FC236}">
                <a16:creationId xmlns:a16="http://schemas.microsoft.com/office/drawing/2014/main" id="{1ED9CFA1-B7A2-5670-BCD4-D06315340C14}"/>
              </a:ext>
            </a:extLst>
          </p:cNvPr>
          <p:cNvSpPr txBox="1"/>
          <p:nvPr/>
        </p:nvSpPr>
        <p:spPr>
          <a:xfrm>
            <a:off x="6718933" y="0"/>
            <a:ext cx="4470881" cy="461665"/>
          </a:xfrm>
          <a:prstGeom prst="rect">
            <a:avLst/>
          </a:prstGeom>
          <a:noFill/>
        </p:spPr>
        <p:txBody>
          <a:bodyPr wrap="square" rtlCol="0">
            <a:spAutoFit/>
          </a:bodyPr>
          <a:lstStyle/>
          <a:p>
            <a:r>
              <a:rPr lang="en-IN" sz="2400" b="1" dirty="0">
                <a:effectLst>
                  <a:outerShdw blurRad="38100" dist="38100" dir="2700000" algn="tl">
                    <a:srgbClr val="000000">
                      <a:alpha val="43137"/>
                    </a:srgbClr>
                  </a:outerShdw>
                </a:effectLst>
              </a:rPr>
              <a:t>Understand</a:t>
            </a:r>
            <a:r>
              <a:rPr lang="en-IN" b="1" dirty="0">
                <a:effectLst>
                  <a:outerShdw blurRad="38100" dist="38100" dir="2700000" algn="tl">
                    <a:srgbClr val="000000">
                      <a:alpha val="43137"/>
                    </a:srgbClr>
                  </a:outerShdw>
                </a:effectLst>
              </a:rPr>
              <a:t> </a:t>
            </a:r>
            <a:r>
              <a:rPr lang="en-IN" sz="2400" b="1" dirty="0">
                <a:effectLst>
                  <a:outerShdw blurRad="38100" dist="38100" dir="2700000" algn="tl">
                    <a:srgbClr val="000000">
                      <a:alpha val="43137"/>
                    </a:srgbClr>
                  </a:outerShdw>
                </a:effectLst>
              </a:rPr>
              <a:t>Discount Strategies</a:t>
            </a:r>
            <a:endParaRPr lang="en-IN" dirty="0"/>
          </a:p>
        </p:txBody>
      </p:sp>
      <p:sp>
        <p:nvSpPr>
          <p:cNvPr id="8" name="TextBox 7">
            <a:extLst>
              <a:ext uri="{FF2B5EF4-FFF2-40B4-BE49-F238E27FC236}">
                <a16:creationId xmlns:a16="http://schemas.microsoft.com/office/drawing/2014/main" id="{706BED80-4805-B359-FBC0-AF63CECCA6CA}"/>
              </a:ext>
            </a:extLst>
          </p:cNvPr>
          <p:cNvSpPr txBox="1"/>
          <p:nvPr/>
        </p:nvSpPr>
        <p:spPr>
          <a:xfrm>
            <a:off x="0" y="461665"/>
            <a:ext cx="5846885" cy="923330"/>
          </a:xfrm>
          <a:prstGeom prst="rect">
            <a:avLst/>
          </a:prstGeom>
          <a:noFill/>
        </p:spPr>
        <p:txBody>
          <a:bodyPr wrap="square" rtlCol="0">
            <a:spAutoFit/>
          </a:bodyPr>
          <a:lstStyle/>
          <a:p>
            <a:pPr marL="285750" indent="-285750">
              <a:buFont typeface="Arial" panose="020B0604020202020204" pitchFamily="34" charset="0"/>
              <a:buChar char="•"/>
            </a:pPr>
            <a:r>
              <a:rPr lang="en-US" dirty="0"/>
              <a:t>The average package price increases with hotel rating, showing that higher-rated hotels significantly raise overall travel costs.</a:t>
            </a:r>
            <a:endParaRPr lang="en-IN" dirty="0"/>
          </a:p>
        </p:txBody>
      </p:sp>
      <p:sp>
        <p:nvSpPr>
          <p:cNvPr id="10" name="TextBox 9">
            <a:extLst>
              <a:ext uri="{FF2B5EF4-FFF2-40B4-BE49-F238E27FC236}">
                <a16:creationId xmlns:a16="http://schemas.microsoft.com/office/drawing/2014/main" id="{FB89EBD1-5CBF-D929-8471-542AA58CD17C}"/>
              </a:ext>
            </a:extLst>
          </p:cNvPr>
          <p:cNvSpPr txBox="1"/>
          <p:nvPr/>
        </p:nvSpPr>
        <p:spPr>
          <a:xfrm>
            <a:off x="6787662" y="461665"/>
            <a:ext cx="4853353" cy="923330"/>
          </a:xfrm>
          <a:prstGeom prst="rect">
            <a:avLst/>
          </a:prstGeom>
          <a:noFill/>
        </p:spPr>
        <p:txBody>
          <a:bodyPr wrap="square" rtlCol="0">
            <a:spAutoFit/>
          </a:bodyPr>
          <a:lstStyle/>
          <a:p>
            <a:r>
              <a:rPr lang="en-US" dirty="0"/>
              <a:t>Most travel packages offer discounts between 5% and 13%, indicating standardized promotional strategies rather than aggressive price reductions.</a:t>
            </a:r>
            <a:endParaRPr lang="en-IN" dirty="0"/>
          </a:p>
        </p:txBody>
      </p:sp>
    </p:spTree>
    <p:extLst>
      <p:ext uri="{BB962C8B-B14F-4D97-AF65-F5344CB8AC3E}">
        <p14:creationId xmlns:p14="http://schemas.microsoft.com/office/powerpoint/2010/main" val="13662880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994387-4CD1-02A4-7C67-5C7D63FAD495}"/>
              </a:ext>
            </a:extLst>
          </p:cNvPr>
          <p:cNvPicPr>
            <a:picLocks noChangeAspect="1"/>
          </p:cNvPicPr>
          <p:nvPr/>
        </p:nvPicPr>
        <p:blipFill>
          <a:blip r:embed="rId2"/>
          <a:stretch>
            <a:fillRect/>
          </a:stretch>
        </p:blipFill>
        <p:spPr>
          <a:xfrm>
            <a:off x="158352" y="800100"/>
            <a:ext cx="7069015" cy="5574323"/>
          </a:xfrm>
          <a:prstGeom prst="rect">
            <a:avLst/>
          </a:prstGeom>
        </p:spPr>
      </p:pic>
      <p:sp>
        <p:nvSpPr>
          <p:cNvPr id="14" name="TextBox 13">
            <a:extLst>
              <a:ext uri="{FF2B5EF4-FFF2-40B4-BE49-F238E27FC236}">
                <a16:creationId xmlns:a16="http://schemas.microsoft.com/office/drawing/2014/main" id="{4971A440-B009-1283-1477-33FDA175678D}"/>
              </a:ext>
            </a:extLst>
          </p:cNvPr>
          <p:cNvSpPr txBox="1"/>
          <p:nvPr/>
        </p:nvSpPr>
        <p:spPr>
          <a:xfrm>
            <a:off x="-70338" y="0"/>
            <a:ext cx="7069015"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Impact of Discounts on Travel Package Prices</a:t>
            </a:r>
            <a:endParaRPr lang="en-IN" sz="2400" b="1" dirty="0">
              <a:effectLst>
                <a:outerShdw blurRad="38100" dist="38100" dir="2700000" algn="tl">
                  <a:srgbClr val="000000">
                    <a:alpha val="43137"/>
                  </a:srgbClr>
                </a:outerShdw>
              </a:effectLst>
            </a:endParaRPr>
          </a:p>
        </p:txBody>
      </p:sp>
      <p:sp>
        <p:nvSpPr>
          <p:cNvPr id="15" name="TextBox 14">
            <a:extLst>
              <a:ext uri="{FF2B5EF4-FFF2-40B4-BE49-F238E27FC236}">
                <a16:creationId xmlns:a16="http://schemas.microsoft.com/office/drawing/2014/main" id="{42C0AB9C-1629-F4B2-D9E7-478D2AD50FD3}"/>
              </a:ext>
            </a:extLst>
          </p:cNvPr>
          <p:cNvSpPr txBox="1"/>
          <p:nvPr/>
        </p:nvSpPr>
        <p:spPr>
          <a:xfrm>
            <a:off x="8024265" y="1096405"/>
            <a:ext cx="3643128" cy="2585323"/>
          </a:xfrm>
          <a:prstGeom prst="rect">
            <a:avLst/>
          </a:prstGeom>
          <a:noFill/>
        </p:spPr>
        <p:txBody>
          <a:bodyPr wrap="square" rtlCol="0">
            <a:spAutoFit/>
          </a:bodyPr>
          <a:lstStyle/>
          <a:p>
            <a:pPr marL="285750" indent="-285750">
              <a:buFont typeface="Arial" panose="020B0604020202020204" pitchFamily="34" charset="0"/>
              <a:buChar char="•"/>
            </a:pPr>
            <a:r>
              <a:rPr lang="en-US" dirty="0"/>
              <a:t>Most discounts lie between </a:t>
            </a:r>
            <a:r>
              <a:rPr lang="en-US" b="1" dirty="0"/>
              <a:t>5% and 15%</a:t>
            </a:r>
            <a:r>
              <a:rPr lang="en-US" dirty="0"/>
              <a:t>, regardless of package price.</a:t>
            </a:r>
          </a:p>
          <a:p>
            <a:pPr marL="285750" indent="-285750">
              <a:buFont typeface="Arial" panose="020B0604020202020204" pitchFamily="34" charset="0"/>
              <a:buChar char="•"/>
            </a:pPr>
            <a:r>
              <a:rPr lang="en-US" dirty="0"/>
              <a:t>High-priced (luxury) packages generally do not offer very high discounts.</a:t>
            </a:r>
          </a:p>
          <a:p>
            <a:pPr marL="285750" indent="-285750">
              <a:buFont typeface="Arial" panose="020B0604020202020204" pitchFamily="34" charset="0"/>
              <a:buChar char="•"/>
            </a:pPr>
            <a:r>
              <a:rPr lang="en-US" dirty="0"/>
              <a:t>Budget and mid-range packages tend to cluster around common discount values.</a:t>
            </a:r>
            <a:endParaRPr lang="en-IN" dirty="0"/>
          </a:p>
        </p:txBody>
      </p:sp>
    </p:spTree>
    <p:extLst>
      <p:ext uri="{BB962C8B-B14F-4D97-AF65-F5344CB8AC3E}">
        <p14:creationId xmlns:p14="http://schemas.microsoft.com/office/powerpoint/2010/main" val="25735279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528A9B-DFCF-0B78-EDF4-5DA1AE7D22EF}"/>
              </a:ext>
            </a:extLst>
          </p:cNvPr>
          <p:cNvPicPr>
            <a:picLocks noChangeAspect="1"/>
          </p:cNvPicPr>
          <p:nvPr/>
        </p:nvPicPr>
        <p:blipFill>
          <a:blip r:embed="rId2"/>
          <a:stretch>
            <a:fillRect/>
          </a:stretch>
        </p:blipFill>
        <p:spPr>
          <a:xfrm>
            <a:off x="6254261" y="1656073"/>
            <a:ext cx="5656401" cy="4349781"/>
          </a:xfrm>
          <a:prstGeom prst="rect">
            <a:avLst/>
          </a:prstGeom>
        </p:spPr>
      </p:pic>
      <p:sp>
        <p:nvSpPr>
          <p:cNvPr id="4" name="TextBox 3">
            <a:extLst>
              <a:ext uri="{FF2B5EF4-FFF2-40B4-BE49-F238E27FC236}">
                <a16:creationId xmlns:a16="http://schemas.microsoft.com/office/drawing/2014/main" id="{F423ED88-B15F-3CBC-7C38-23E0D5A2D5E5}"/>
              </a:ext>
            </a:extLst>
          </p:cNvPr>
          <p:cNvSpPr txBox="1"/>
          <p:nvPr/>
        </p:nvSpPr>
        <p:spPr>
          <a:xfrm>
            <a:off x="131891" y="390481"/>
            <a:ext cx="11509124" cy="923330"/>
          </a:xfrm>
          <a:prstGeom prst="rect">
            <a:avLst/>
          </a:prstGeom>
          <a:noFill/>
        </p:spPr>
        <p:txBody>
          <a:bodyPr wrap="square" rtlCol="0">
            <a:spAutoFit/>
          </a:bodyPr>
          <a:lstStyle/>
          <a:p>
            <a:pPr marL="285750" indent="-285750">
              <a:buFont typeface="Arial" panose="020B0604020202020204" pitchFamily="34" charset="0"/>
              <a:buChar char="•"/>
            </a:pPr>
            <a:r>
              <a:rPr lang="en-US" dirty="0"/>
              <a:t>Calculating </a:t>
            </a:r>
            <a:r>
              <a:rPr lang="en-US" b="1" dirty="0"/>
              <a:t>price per day</a:t>
            </a:r>
            <a:r>
              <a:rPr lang="en-US" dirty="0"/>
              <a:t> provides a normalized way to compare packages of different durations.</a:t>
            </a:r>
          </a:p>
          <a:p>
            <a:pPr marL="285750" indent="-285750">
              <a:buFont typeface="Arial" panose="020B0604020202020204" pitchFamily="34" charset="0"/>
              <a:buChar char="•"/>
            </a:pPr>
            <a:r>
              <a:rPr lang="en-US" dirty="0"/>
              <a:t>Many packages offer reasonable daily pricing, making longer trips more cost-effective in some cases.</a:t>
            </a:r>
          </a:p>
          <a:p>
            <a:pPr marL="285750" indent="-285750">
              <a:buFont typeface="Arial" panose="020B0604020202020204" pitchFamily="34" charset="0"/>
              <a:buChar char="•"/>
            </a:pPr>
            <a:r>
              <a:rPr lang="en-US" dirty="0"/>
              <a:t>This metric helps identify </a:t>
            </a:r>
            <a:r>
              <a:rPr lang="en-US" b="1" dirty="0"/>
              <a:t>true affordability</a:t>
            </a:r>
            <a:r>
              <a:rPr lang="en-US" dirty="0"/>
              <a:t> more accurately than total price.</a:t>
            </a:r>
            <a:endParaRPr lang="en-IN" dirty="0"/>
          </a:p>
        </p:txBody>
      </p:sp>
      <p:sp>
        <p:nvSpPr>
          <p:cNvPr id="6" name="TextBox 5">
            <a:extLst>
              <a:ext uri="{FF2B5EF4-FFF2-40B4-BE49-F238E27FC236}">
                <a16:creationId xmlns:a16="http://schemas.microsoft.com/office/drawing/2014/main" id="{9D9BE1DC-7F38-19FF-C32D-F5CBC84A358F}"/>
              </a:ext>
            </a:extLst>
          </p:cNvPr>
          <p:cNvSpPr txBox="1"/>
          <p:nvPr/>
        </p:nvSpPr>
        <p:spPr>
          <a:xfrm>
            <a:off x="0" y="0"/>
            <a:ext cx="4044462" cy="738664"/>
          </a:xfrm>
          <a:prstGeom prst="rect">
            <a:avLst/>
          </a:prstGeom>
          <a:noFill/>
        </p:spPr>
        <p:txBody>
          <a:bodyPr wrap="square" rtlCol="0">
            <a:spAutoFit/>
          </a:bodyPr>
          <a:lstStyle/>
          <a:p>
            <a:r>
              <a:rPr lang="en-IN" sz="2400" b="1" dirty="0">
                <a:effectLst>
                  <a:outerShdw blurRad="38100" dist="38100" dir="2700000" algn="tl">
                    <a:srgbClr val="000000">
                      <a:alpha val="43137"/>
                    </a:srgbClr>
                  </a:outerShdw>
                </a:effectLst>
              </a:rPr>
              <a:t>Per Day Price(AVG)</a:t>
            </a:r>
          </a:p>
          <a:p>
            <a:endParaRPr lang="en-IN" dirty="0"/>
          </a:p>
        </p:txBody>
      </p:sp>
      <p:pic>
        <p:nvPicPr>
          <p:cNvPr id="8" name="Picture 7">
            <a:extLst>
              <a:ext uri="{FF2B5EF4-FFF2-40B4-BE49-F238E27FC236}">
                <a16:creationId xmlns:a16="http://schemas.microsoft.com/office/drawing/2014/main" id="{563F5E50-76F3-F87B-ACB4-47883F2AA9E0}"/>
              </a:ext>
            </a:extLst>
          </p:cNvPr>
          <p:cNvPicPr>
            <a:picLocks noChangeAspect="1"/>
          </p:cNvPicPr>
          <p:nvPr/>
        </p:nvPicPr>
        <p:blipFill>
          <a:blip r:embed="rId3"/>
          <a:stretch>
            <a:fillRect/>
          </a:stretch>
        </p:blipFill>
        <p:spPr>
          <a:xfrm>
            <a:off x="2022231" y="1313811"/>
            <a:ext cx="1733813" cy="5523040"/>
          </a:xfrm>
          <a:prstGeom prst="rect">
            <a:avLst/>
          </a:prstGeom>
        </p:spPr>
      </p:pic>
    </p:spTree>
    <p:extLst>
      <p:ext uri="{BB962C8B-B14F-4D97-AF65-F5344CB8AC3E}">
        <p14:creationId xmlns:p14="http://schemas.microsoft.com/office/powerpoint/2010/main" val="15585262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07389F-F6E7-726B-44C3-97BB08C25D20}"/>
              </a:ext>
            </a:extLst>
          </p:cNvPr>
          <p:cNvPicPr>
            <a:picLocks noChangeAspect="1"/>
          </p:cNvPicPr>
          <p:nvPr/>
        </p:nvPicPr>
        <p:blipFill>
          <a:blip r:embed="rId2"/>
          <a:stretch>
            <a:fillRect/>
          </a:stretch>
        </p:blipFill>
        <p:spPr>
          <a:xfrm>
            <a:off x="6204530" y="1319565"/>
            <a:ext cx="5987470" cy="4421811"/>
          </a:xfrm>
          <a:prstGeom prst="rect">
            <a:avLst/>
          </a:prstGeom>
        </p:spPr>
      </p:pic>
      <p:pic>
        <p:nvPicPr>
          <p:cNvPr id="5" name="Picture 4">
            <a:extLst>
              <a:ext uri="{FF2B5EF4-FFF2-40B4-BE49-F238E27FC236}">
                <a16:creationId xmlns:a16="http://schemas.microsoft.com/office/drawing/2014/main" id="{6AC71D98-1F35-1EA9-FBA4-C17ACA06A302}"/>
              </a:ext>
            </a:extLst>
          </p:cNvPr>
          <p:cNvPicPr>
            <a:picLocks noChangeAspect="1"/>
          </p:cNvPicPr>
          <p:nvPr/>
        </p:nvPicPr>
        <p:blipFill>
          <a:blip r:embed="rId3"/>
          <a:stretch>
            <a:fillRect/>
          </a:stretch>
        </p:blipFill>
        <p:spPr>
          <a:xfrm>
            <a:off x="4655342" y="712178"/>
            <a:ext cx="1332129" cy="5653454"/>
          </a:xfrm>
          <a:prstGeom prst="rect">
            <a:avLst/>
          </a:prstGeom>
        </p:spPr>
      </p:pic>
      <p:sp>
        <p:nvSpPr>
          <p:cNvPr id="6" name="TextBox 5">
            <a:extLst>
              <a:ext uri="{FF2B5EF4-FFF2-40B4-BE49-F238E27FC236}">
                <a16:creationId xmlns:a16="http://schemas.microsoft.com/office/drawing/2014/main" id="{5732E369-DDB0-CF10-83C6-8A19278E9B04}"/>
              </a:ext>
            </a:extLst>
          </p:cNvPr>
          <p:cNvSpPr txBox="1"/>
          <p:nvPr/>
        </p:nvSpPr>
        <p:spPr>
          <a:xfrm>
            <a:off x="0" y="0"/>
            <a:ext cx="6096000" cy="461665"/>
          </a:xfrm>
          <a:prstGeom prst="rect">
            <a:avLst/>
          </a:prstGeom>
          <a:noFill/>
        </p:spPr>
        <p:txBody>
          <a:bodyPr wrap="square" rtlCol="0">
            <a:spAutoFit/>
          </a:bodyPr>
          <a:lstStyle/>
          <a:p>
            <a:r>
              <a:rPr lang="en-IN" sz="2400" b="1" dirty="0">
                <a:effectLst>
                  <a:outerShdw blurRad="38100" dist="38100" dir="2700000" algn="tl">
                    <a:srgbClr val="000000">
                      <a:alpha val="43137"/>
                    </a:srgbClr>
                  </a:outerShdw>
                </a:effectLst>
              </a:rPr>
              <a:t>Luxury VS Budget Packages</a:t>
            </a:r>
          </a:p>
        </p:txBody>
      </p:sp>
      <p:sp>
        <p:nvSpPr>
          <p:cNvPr id="7" name="TextBox 6">
            <a:extLst>
              <a:ext uri="{FF2B5EF4-FFF2-40B4-BE49-F238E27FC236}">
                <a16:creationId xmlns:a16="http://schemas.microsoft.com/office/drawing/2014/main" id="{5968E8AF-C7E9-517A-82A4-7641D353F0DC}"/>
              </a:ext>
            </a:extLst>
          </p:cNvPr>
          <p:cNvSpPr txBox="1"/>
          <p:nvPr/>
        </p:nvSpPr>
        <p:spPr>
          <a:xfrm>
            <a:off x="178867" y="527539"/>
            <a:ext cx="4237893" cy="2862322"/>
          </a:xfrm>
          <a:prstGeom prst="rect">
            <a:avLst/>
          </a:prstGeom>
          <a:noFill/>
        </p:spPr>
        <p:txBody>
          <a:bodyPr wrap="square" rtlCol="0">
            <a:spAutoFit/>
          </a:bodyPr>
          <a:lstStyle/>
          <a:p>
            <a:pPr marL="285750" indent="-285750">
              <a:buFont typeface="Arial" panose="020B0604020202020204" pitchFamily="34" charset="0"/>
              <a:buChar char="•"/>
            </a:pPr>
            <a:r>
              <a:rPr lang="en-US" dirty="0"/>
              <a:t>Most travel packages are designed for affordability rather than premium experiences.</a:t>
            </a:r>
          </a:p>
          <a:p>
            <a:pPr marL="285750" indent="-285750">
              <a:buFont typeface="Arial" panose="020B0604020202020204" pitchFamily="34" charset="0"/>
              <a:buChar char="•"/>
            </a:pPr>
            <a:r>
              <a:rPr lang="en-US" dirty="0"/>
              <a:t>Budget packages dominate the dataset, while luxury packages form a smaller segment, indicating a strong focus on cost-effective travel offerings.</a:t>
            </a:r>
          </a:p>
          <a:p>
            <a:pPr marL="285750" indent="-285750">
              <a:buFont typeface="Arial" panose="020B0604020202020204" pitchFamily="34" charset="0"/>
              <a:buChar char="•"/>
            </a:pPr>
            <a:r>
              <a:rPr lang="en-US" dirty="0"/>
              <a:t>The platform primarily caters to budget travelers, with limited high-end luxury packages.</a:t>
            </a:r>
            <a:endParaRPr lang="en-IN" dirty="0"/>
          </a:p>
        </p:txBody>
      </p:sp>
    </p:spTree>
    <p:extLst>
      <p:ext uri="{BB962C8B-B14F-4D97-AF65-F5344CB8AC3E}">
        <p14:creationId xmlns:p14="http://schemas.microsoft.com/office/powerpoint/2010/main" val="35666299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8D43A1-4AE6-3CD6-9876-F61FAE6C5434}"/>
              </a:ext>
            </a:extLst>
          </p:cNvPr>
          <p:cNvPicPr>
            <a:picLocks noChangeAspect="1"/>
          </p:cNvPicPr>
          <p:nvPr/>
        </p:nvPicPr>
        <p:blipFill>
          <a:blip r:embed="rId2"/>
          <a:stretch>
            <a:fillRect/>
          </a:stretch>
        </p:blipFill>
        <p:spPr>
          <a:xfrm>
            <a:off x="158262" y="1415562"/>
            <a:ext cx="8165950" cy="5108329"/>
          </a:xfrm>
          <a:prstGeom prst="rect">
            <a:avLst/>
          </a:prstGeom>
        </p:spPr>
      </p:pic>
      <p:sp>
        <p:nvSpPr>
          <p:cNvPr id="4" name="TextBox 3">
            <a:extLst>
              <a:ext uri="{FF2B5EF4-FFF2-40B4-BE49-F238E27FC236}">
                <a16:creationId xmlns:a16="http://schemas.microsoft.com/office/drawing/2014/main" id="{AB129DB7-845B-42FB-22B6-CA013D3DB447}"/>
              </a:ext>
            </a:extLst>
          </p:cNvPr>
          <p:cNvSpPr txBox="1"/>
          <p:nvPr/>
        </p:nvSpPr>
        <p:spPr>
          <a:xfrm>
            <a:off x="158262" y="0"/>
            <a:ext cx="11913576" cy="1292662"/>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Outlier Detection</a:t>
            </a:r>
          </a:p>
          <a:p>
            <a:pPr marL="285750" indent="-285750">
              <a:buFont typeface="Arial" panose="020B0604020202020204" pitchFamily="34" charset="0"/>
              <a:buChar char="•"/>
            </a:pPr>
            <a:r>
              <a:rPr lang="en-US" dirty="0"/>
              <a:t>Boxplot analysis reveals a small number of high-priced outlier packages.</a:t>
            </a:r>
          </a:p>
          <a:p>
            <a:pPr marL="285750" indent="-285750">
              <a:buFont typeface="Arial" panose="020B0604020202020204" pitchFamily="34" charset="0"/>
              <a:buChar char="•"/>
            </a:pPr>
            <a:r>
              <a:rPr lang="en-US" dirty="0"/>
              <a:t>These packages likely represent luxury experiences, premium hotels, or special destinations.</a:t>
            </a:r>
          </a:p>
          <a:p>
            <a:pPr marL="285750" indent="-285750">
              <a:buFont typeface="Arial" panose="020B0604020202020204" pitchFamily="34" charset="0"/>
              <a:buChar char="•"/>
            </a:pPr>
            <a:r>
              <a:rPr lang="en-US" dirty="0"/>
              <a:t>The majority of packages fall within a consistent and predictable price range.</a:t>
            </a:r>
            <a:endParaRPr lang="en-IN" dirty="0"/>
          </a:p>
        </p:txBody>
      </p:sp>
    </p:spTree>
    <p:extLst>
      <p:ext uri="{BB962C8B-B14F-4D97-AF65-F5344CB8AC3E}">
        <p14:creationId xmlns:p14="http://schemas.microsoft.com/office/powerpoint/2010/main" val="23869820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0F3D25-EEF4-EDA4-D3FC-E3790C6AD11F}"/>
              </a:ext>
            </a:extLst>
          </p:cNvPr>
          <p:cNvPicPr>
            <a:picLocks noChangeAspect="1"/>
          </p:cNvPicPr>
          <p:nvPr/>
        </p:nvPicPr>
        <p:blipFill>
          <a:blip r:embed="rId2"/>
          <a:stretch>
            <a:fillRect/>
          </a:stretch>
        </p:blipFill>
        <p:spPr>
          <a:xfrm>
            <a:off x="6029449" y="2297378"/>
            <a:ext cx="6034054" cy="4560622"/>
          </a:xfrm>
          <a:prstGeom prst="rect">
            <a:avLst/>
          </a:prstGeom>
        </p:spPr>
      </p:pic>
      <p:sp>
        <p:nvSpPr>
          <p:cNvPr id="4" name="TextBox 3">
            <a:extLst>
              <a:ext uri="{FF2B5EF4-FFF2-40B4-BE49-F238E27FC236}">
                <a16:creationId xmlns:a16="http://schemas.microsoft.com/office/drawing/2014/main" id="{91709C7F-0D23-C084-7F16-393D1735222A}"/>
              </a:ext>
            </a:extLst>
          </p:cNvPr>
          <p:cNvSpPr txBox="1"/>
          <p:nvPr/>
        </p:nvSpPr>
        <p:spPr>
          <a:xfrm>
            <a:off x="123092" y="70853"/>
            <a:ext cx="11940411" cy="1354217"/>
          </a:xfrm>
          <a:prstGeom prst="rect">
            <a:avLst/>
          </a:prstGeom>
          <a:noFill/>
        </p:spPr>
        <p:txBody>
          <a:bodyPr wrap="square" rtlCol="0">
            <a:spAutoFit/>
          </a:bodyPr>
          <a:lstStyle/>
          <a:p>
            <a:r>
              <a:rPr lang="en-US" sz="2800" b="1" dirty="0">
                <a:effectLst>
                  <a:outerShdw blurRad="38100" dist="38100" dir="2700000" algn="tl">
                    <a:srgbClr val="000000">
                      <a:alpha val="43137"/>
                    </a:srgbClr>
                  </a:outerShdw>
                </a:effectLst>
              </a:rPr>
              <a:t>Trip Duration Vs Package Price</a:t>
            </a:r>
          </a:p>
          <a:p>
            <a:pPr marL="285750" indent="-285750">
              <a:buFont typeface="Arial" panose="020B0604020202020204" pitchFamily="34" charset="0"/>
              <a:buChar char="•"/>
            </a:pPr>
            <a:r>
              <a:rPr lang="en-US" dirty="0"/>
              <a:t>There is a positive relationship between the number of days and the package price.</a:t>
            </a:r>
          </a:p>
          <a:p>
            <a:pPr marL="285750" indent="-285750">
              <a:buFont typeface="Arial" panose="020B0604020202020204" pitchFamily="34" charset="0"/>
              <a:buChar char="•"/>
            </a:pPr>
            <a:r>
              <a:rPr lang="en-US" dirty="0"/>
              <a:t>Longer trips generally result in higher overall costs.</a:t>
            </a:r>
          </a:p>
          <a:p>
            <a:pPr marL="285750" indent="-285750">
              <a:buFont typeface="Arial" panose="020B0604020202020204" pitchFamily="34" charset="0"/>
              <a:buChar char="•"/>
            </a:pPr>
            <a:r>
              <a:rPr lang="en-US" dirty="0"/>
              <a:t>Trip duration is one of the key factors influencing package pricing.</a:t>
            </a:r>
            <a:endParaRPr lang="en-IN" dirty="0"/>
          </a:p>
        </p:txBody>
      </p:sp>
      <p:pic>
        <p:nvPicPr>
          <p:cNvPr id="5" name="Picture 4">
            <a:extLst>
              <a:ext uri="{FF2B5EF4-FFF2-40B4-BE49-F238E27FC236}">
                <a16:creationId xmlns:a16="http://schemas.microsoft.com/office/drawing/2014/main" id="{6BA1E409-927E-DB90-7E79-75BFBD290666}"/>
              </a:ext>
            </a:extLst>
          </p:cNvPr>
          <p:cNvPicPr>
            <a:picLocks noChangeAspect="1"/>
          </p:cNvPicPr>
          <p:nvPr/>
        </p:nvPicPr>
        <p:blipFill>
          <a:blip r:embed="rId3"/>
          <a:stretch>
            <a:fillRect/>
          </a:stretch>
        </p:blipFill>
        <p:spPr>
          <a:xfrm>
            <a:off x="3398911" y="1425071"/>
            <a:ext cx="1332129" cy="5353797"/>
          </a:xfrm>
          <a:prstGeom prst="rect">
            <a:avLst/>
          </a:prstGeom>
        </p:spPr>
      </p:pic>
      <p:pic>
        <p:nvPicPr>
          <p:cNvPr id="6" name="Picture 5">
            <a:extLst>
              <a:ext uri="{FF2B5EF4-FFF2-40B4-BE49-F238E27FC236}">
                <a16:creationId xmlns:a16="http://schemas.microsoft.com/office/drawing/2014/main" id="{0586AD92-E924-8C27-09EA-1959A9ED815E}"/>
              </a:ext>
            </a:extLst>
          </p:cNvPr>
          <p:cNvPicPr>
            <a:picLocks noChangeAspect="1"/>
          </p:cNvPicPr>
          <p:nvPr/>
        </p:nvPicPr>
        <p:blipFill>
          <a:blip r:embed="rId4"/>
          <a:stretch>
            <a:fillRect/>
          </a:stretch>
        </p:blipFill>
        <p:spPr>
          <a:xfrm>
            <a:off x="1169867" y="1425070"/>
            <a:ext cx="1274580" cy="5353798"/>
          </a:xfrm>
          <a:prstGeom prst="rect">
            <a:avLst/>
          </a:prstGeom>
        </p:spPr>
      </p:pic>
    </p:spTree>
    <p:extLst>
      <p:ext uri="{BB962C8B-B14F-4D97-AF65-F5344CB8AC3E}">
        <p14:creationId xmlns:p14="http://schemas.microsoft.com/office/powerpoint/2010/main" val="29779356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D7E5EF-DB76-67C3-B0A1-5D43D01EE198}"/>
              </a:ext>
            </a:extLst>
          </p:cNvPr>
          <p:cNvSpPr txBox="1"/>
          <p:nvPr/>
        </p:nvSpPr>
        <p:spPr>
          <a:xfrm>
            <a:off x="241975" y="0"/>
            <a:ext cx="10371617" cy="461665"/>
          </a:xfrm>
          <a:prstGeom prst="rect">
            <a:avLst/>
          </a:prstGeom>
          <a:noFill/>
        </p:spPr>
        <p:txBody>
          <a:bodyPr wrap="square" rtlCol="0">
            <a:spAutoFit/>
          </a:bodyPr>
          <a:lstStyle/>
          <a:p>
            <a:r>
              <a:rPr lang="en-IN" sz="2400" b="1" dirty="0">
                <a:effectLst>
                  <a:outerShdw blurRad="38100" dist="38100" dir="2700000" algn="tl">
                    <a:srgbClr val="000000">
                      <a:alpha val="43137"/>
                    </a:srgbClr>
                  </a:outerShdw>
                </a:effectLst>
              </a:rPr>
              <a:t>After Performing EDA on the travel &amp; tourism data </a:t>
            </a:r>
          </a:p>
        </p:txBody>
      </p:sp>
      <p:pic>
        <p:nvPicPr>
          <p:cNvPr id="6" name="Picture 5">
            <a:extLst>
              <a:ext uri="{FF2B5EF4-FFF2-40B4-BE49-F238E27FC236}">
                <a16:creationId xmlns:a16="http://schemas.microsoft.com/office/drawing/2014/main" id="{3AF8A0F3-04ED-F2AF-4EDD-2E8DC8D72300}"/>
              </a:ext>
            </a:extLst>
          </p:cNvPr>
          <p:cNvPicPr>
            <a:picLocks noChangeAspect="1"/>
          </p:cNvPicPr>
          <p:nvPr/>
        </p:nvPicPr>
        <p:blipFill>
          <a:blip r:embed="rId2"/>
          <a:stretch>
            <a:fillRect/>
          </a:stretch>
        </p:blipFill>
        <p:spPr>
          <a:xfrm>
            <a:off x="1039006" y="641838"/>
            <a:ext cx="9674374" cy="6216162"/>
          </a:xfrm>
          <a:prstGeom prst="rect">
            <a:avLst/>
          </a:prstGeom>
        </p:spPr>
      </p:pic>
    </p:spTree>
    <p:extLst>
      <p:ext uri="{BB962C8B-B14F-4D97-AF65-F5344CB8AC3E}">
        <p14:creationId xmlns:p14="http://schemas.microsoft.com/office/powerpoint/2010/main" val="36317305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5ABDDB-E1FF-FF25-4AC9-83FA34BFA8D8}"/>
              </a:ext>
            </a:extLst>
          </p:cNvPr>
          <p:cNvSpPr txBox="1"/>
          <p:nvPr/>
        </p:nvSpPr>
        <p:spPr>
          <a:xfrm>
            <a:off x="0" y="0"/>
            <a:ext cx="3569677" cy="461665"/>
          </a:xfrm>
          <a:prstGeom prst="rect">
            <a:avLst/>
          </a:prstGeom>
          <a:noFill/>
        </p:spPr>
        <p:txBody>
          <a:bodyPr wrap="square" rtlCol="0">
            <a:spAutoFit/>
          </a:bodyPr>
          <a:lstStyle/>
          <a:p>
            <a:r>
              <a:rPr lang="en-IN" sz="2400" b="1" dirty="0">
                <a:effectLst>
                  <a:outerShdw blurRad="38100" dist="38100" dir="2700000" algn="tl">
                    <a:srgbClr val="000000">
                      <a:alpha val="43137"/>
                    </a:srgbClr>
                  </a:outerShdw>
                </a:effectLst>
              </a:rPr>
              <a:t>Business Value :-</a:t>
            </a:r>
          </a:p>
        </p:txBody>
      </p:sp>
      <p:sp>
        <p:nvSpPr>
          <p:cNvPr id="3" name="TextBox 2">
            <a:extLst>
              <a:ext uri="{FF2B5EF4-FFF2-40B4-BE49-F238E27FC236}">
                <a16:creationId xmlns:a16="http://schemas.microsoft.com/office/drawing/2014/main" id="{C21E3B9D-CE27-76F9-8666-9304A6ED8DF8}"/>
              </a:ext>
            </a:extLst>
          </p:cNvPr>
          <p:cNvSpPr txBox="1"/>
          <p:nvPr/>
        </p:nvSpPr>
        <p:spPr>
          <a:xfrm>
            <a:off x="76200" y="461665"/>
            <a:ext cx="12115800" cy="1200329"/>
          </a:xfrm>
          <a:prstGeom prst="rect">
            <a:avLst/>
          </a:prstGeom>
          <a:noFill/>
        </p:spPr>
        <p:txBody>
          <a:bodyPr wrap="square" rtlCol="0">
            <a:spAutoFit/>
          </a:bodyPr>
          <a:lstStyle/>
          <a:p>
            <a:pPr marL="285750" indent="-285750">
              <a:buFont typeface="Arial" panose="020B0604020202020204" pitchFamily="34" charset="0"/>
              <a:buChar char="•"/>
            </a:pPr>
            <a:r>
              <a:rPr lang="en-US" b="1" dirty="0"/>
              <a:t>Travel companies</a:t>
            </a:r>
            <a:r>
              <a:rPr lang="en-US" dirty="0"/>
              <a:t> design optimized and competitive travel packages.</a:t>
            </a:r>
          </a:p>
          <a:p>
            <a:pPr marL="285750" indent="-285750">
              <a:buFont typeface="Arial" panose="020B0604020202020204" pitchFamily="34" charset="0"/>
              <a:buChar char="•"/>
            </a:pPr>
            <a:r>
              <a:rPr lang="en-US" b="1" dirty="0"/>
              <a:t>Marketing teams</a:t>
            </a:r>
            <a:r>
              <a:rPr lang="en-US" dirty="0"/>
              <a:t> focus promotions on high-demand destinations.</a:t>
            </a:r>
          </a:p>
          <a:p>
            <a:pPr marL="285750" indent="-285750">
              <a:buFont typeface="Arial" panose="020B0604020202020204" pitchFamily="34" charset="0"/>
              <a:buChar char="•"/>
            </a:pPr>
            <a:r>
              <a:rPr lang="en-US" b="1" dirty="0"/>
              <a:t>Pricing teams</a:t>
            </a:r>
            <a:r>
              <a:rPr lang="en-US" dirty="0"/>
              <a:t> adjust prices based on duration and hotel rating trends.</a:t>
            </a:r>
          </a:p>
          <a:p>
            <a:pPr marL="285750" indent="-285750">
              <a:buFont typeface="Arial" panose="020B0604020202020204" pitchFamily="34" charset="0"/>
              <a:buChar char="•"/>
            </a:pPr>
            <a:r>
              <a:rPr lang="en-US" b="1" dirty="0"/>
              <a:t>Customers</a:t>
            </a:r>
            <a:r>
              <a:rPr lang="en-US" dirty="0"/>
              <a:t> make informed decisions by comparing price per day and discounts.</a:t>
            </a:r>
            <a:endParaRPr lang="en-IN" dirty="0"/>
          </a:p>
        </p:txBody>
      </p:sp>
      <p:sp>
        <p:nvSpPr>
          <p:cNvPr id="4" name="TextBox 3">
            <a:extLst>
              <a:ext uri="{FF2B5EF4-FFF2-40B4-BE49-F238E27FC236}">
                <a16:creationId xmlns:a16="http://schemas.microsoft.com/office/drawing/2014/main" id="{E300924B-48D2-4197-89BD-77223758D3AA}"/>
              </a:ext>
            </a:extLst>
          </p:cNvPr>
          <p:cNvSpPr txBox="1"/>
          <p:nvPr/>
        </p:nvSpPr>
        <p:spPr>
          <a:xfrm>
            <a:off x="76200" y="1943100"/>
            <a:ext cx="3053862" cy="461665"/>
          </a:xfrm>
          <a:prstGeom prst="rect">
            <a:avLst/>
          </a:prstGeom>
          <a:noFill/>
        </p:spPr>
        <p:txBody>
          <a:bodyPr wrap="square" rtlCol="0">
            <a:spAutoFit/>
          </a:bodyPr>
          <a:lstStyle/>
          <a:p>
            <a:r>
              <a:rPr lang="en-IN" sz="2400" b="1" dirty="0">
                <a:effectLst>
                  <a:outerShdw blurRad="38100" dist="38100" dir="2700000" algn="tl">
                    <a:srgbClr val="000000">
                      <a:alpha val="43137"/>
                    </a:srgbClr>
                  </a:outerShdw>
                </a:effectLst>
              </a:rPr>
              <a:t>Business Problem :- </a:t>
            </a:r>
          </a:p>
        </p:txBody>
      </p:sp>
      <p:sp>
        <p:nvSpPr>
          <p:cNvPr id="5" name="TextBox 4">
            <a:extLst>
              <a:ext uri="{FF2B5EF4-FFF2-40B4-BE49-F238E27FC236}">
                <a16:creationId xmlns:a16="http://schemas.microsoft.com/office/drawing/2014/main" id="{9E267CAF-B6B6-7279-C814-D66ABDFD2F04}"/>
              </a:ext>
            </a:extLst>
          </p:cNvPr>
          <p:cNvSpPr txBox="1"/>
          <p:nvPr/>
        </p:nvSpPr>
        <p:spPr>
          <a:xfrm>
            <a:off x="76200" y="2404765"/>
            <a:ext cx="11793415" cy="1754326"/>
          </a:xfrm>
          <a:prstGeom prst="rect">
            <a:avLst/>
          </a:prstGeom>
          <a:noFill/>
        </p:spPr>
        <p:txBody>
          <a:bodyPr wrap="square" rtlCol="0">
            <a:spAutoFit/>
          </a:bodyPr>
          <a:lstStyle/>
          <a:p>
            <a:r>
              <a:rPr lang="en-US" dirty="0"/>
              <a:t>Due to the large volume of travel package data, it becomes difficult to manually analyze trends and extract actionable insights for decision-making.</a:t>
            </a:r>
          </a:p>
          <a:p>
            <a:pPr marL="285750" indent="-285750">
              <a:buFont typeface="Arial" panose="020B0604020202020204" pitchFamily="34" charset="0"/>
              <a:buChar char="•"/>
            </a:pPr>
            <a:r>
              <a:rPr lang="en-US" dirty="0"/>
              <a:t>Understanding </a:t>
            </a:r>
            <a:r>
              <a:rPr lang="en-US" b="1" dirty="0"/>
              <a:t>pricing patterns</a:t>
            </a:r>
            <a:r>
              <a:rPr lang="en-US" dirty="0"/>
              <a:t> across destinations and hotel categories.</a:t>
            </a:r>
          </a:p>
          <a:p>
            <a:pPr marL="285750" indent="-285750">
              <a:buFont typeface="Arial" panose="020B0604020202020204" pitchFamily="34" charset="0"/>
              <a:buChar char="•"/>
            </a:pPr>
            <a:r>
              <a:rPr lang="en-US" dirty="0"/>
              <a:t>Identifying </a:t>
            </a:r>
            <a:r>
              <a:rPr lang="en-US" b="1" dirty="0"/>
              <a:t>popular destinations</a:t>
            </a:r>
            <a:r>
              <a:rPr lang="en-US" dirty="0"/>
              <a:t> with high customer demand.</a:t>
            </a:r>
          </a:p>
          <a:p>
            <a:pPr marL="285750" indent="-285750">
              <a:buFont typeface="Arial" panose="020B0604020202020204" pitchFamily="34" charset="0"/>
              <a:buChar char="•"/>
            </a:pPr>
            <a:r>
              <a:rPr lang="en-US" dirty="0"/>
              <a:t>Designing competitive packages that balance </a:t>
            </a:r>
            <a:r>
              <a:rPr lang="en-US" b="1" dirty="0"/>
              <a:t>cost, duration, and hotel quality.</a:t>
            </a:r>
          </a:p>
          <a:p>
            <a:pPr marL="285750" indent="-285750">
              <a:buFont typeface="Arial" panose="020B0604020202020204" pitchFamily="34" charset="0"/>
              <a:buChar char="•"/>
            </a:pPr>
            <a:r>
              <a:rPr lang="en-US" dirty="0"/>
              <a:t>Applying </a:t>
            </a:r>
            <a:r>
              <a:rPr lang="en-US" b="1" dirty="0"/>
              <a:t>discount strategies</a:t>
            </a:r>
            <a:r>
              <a:rPr lang="en-US" dirty="0"/>
              <a:t> effectively without impacting profitability.</a:t>
            </a:r>
            <a:endParaRPr lang="en-IN" dirty="0"/>
          </a:p>
        </p:txBody>
      </p:sp>
    </p:spTree>
    <p:extLst>
      <p:ext uri="{BB962C8B-B14F-4D97-AF65-F5344CB8AC3E}">
        <p14:creationId xmlns:p14="http://schemas.microsoft.com/office/powerpoint/2010/main" val="37027973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EFFE27-2A73-B4F6-6E82-8DB65EA90270}"/>
              </a:ext>
            </a:extLst>
          </p:cNvPr>
          <p:cNvSpPr txBox="1"/>
          <p:nvPr/>
        </p:nvSpPr>
        <p:spPr>
          <a:xfrm>
            <a:off x="87923" y="79131"/>
            <a:ext cx="3543300" cy="461665"/>
          </a:xfrm>
          <a:prstGeom prst="rect">
            <a:avLst/>
          </a:prstGeom>
          <a:noFill/>
        </p:spPr>
        <p:txBody>
          <a:bodyPr wrap="square" rtlCol="0">
            <a:spAutoFit/>
          </a:bodyPr>
          <a:lstStyle/>
          <a:p>
            <a:r>
              <a:rPr lang="en-IN" sz="2400" b="1" dirty="0">
                <a:effectLst>
                  <a:outerShdw blurRad="38100" dist="38100" dir="2700000" algn="tl">
                    <a:srgbClr val="000000">
                      <a:alpha val="43137"/>
                    </a:srgbClr>
                  </a:outerShdw>
                </a:effectLst>
              </a:rPr>
              <a:t>Conclusion</a:t>
            </a:r>
          </a:p>
        </p:txBody>
      </p:sp>
      <p:sp>
        <p:nvSpPr>
          <p:cNvPr id="3" name="TextBox 2">
            <a:extLst>
              <a:ext uri="{FF2B5EF4-FFF2-40B4-BE49-F238E27FC236}">
                <a16:creationId xmlns:a16="http://schemas.microsoft.com/office/drawing/2014/main" id="{6E627FA9-B6E5-ECE0-DB91-7A347D809C21}"/>
              </a:ext>
            </a:extLst>
          </p:cNvPr>
          <p:cNvSpPr txBox="1"/>
          <p:nvPr/>
        </p:nvSpPr>
        <p:spPr>
          <a:xfrm>
            <a:off x="169984" y="971619"/>
            <a:ext cx="11852031" cy="3139321"/>
          </a:xfrm>
          <a:prstGeom prst="rect">
            <a:avLst/>
          </a:prstGeom>
          <a:noFill/>
        </p:spPr>
        <p:txBody>
          <a:bodyPr wrap="square" rtlCol="0">
            <a:spAutoFit/>
          </a:bodyPr>
          <a:lstStyle/>
          <a:p>
            <a:r>
              <a:rPr lang="en-US" dirty="0"/>
              <a:t>The project aims to analyze scraped travel package data to uncover pricing, destination, and discount trends that support better business and marketing decisions in the travel and tourism domain.</a:t>
            </a:r>
          </a:p>
          <a:p>
            <a:r>
              <a:rPr lang="en-US" dirty="0"/>
              <a:t>“By scraping and analyzing travel package data, I identified key pricing, destination, and discount trends that can help optimize travel package planning and marketing strategies.”</a:t>
            </a:r>
          </a:p>
          <a:p>
            <a:r>
              <a:rPr lang="en-US" dirty="0"/>
              <a:t>In this project, travel package data was successfully scraped from the </a:t>
            </a:r>
            <a:r>
              <a:rPr lang="en-US" dirty="0" err="1"/>
              <a:t>TravelTriangle</a:t>
            </a:r>
            <a:r>
              <a:rPr lang="en-US" dirty="0"/>
              <a:t> website and transformed into a clean, structured dataset through effective data cleaning and preprocessing techniques. Exploratory Data Analysis revealed important trends in pricing, trip duration, destination popularity, hotel ratings, and discount strategies. The analysis showed that most travel packages are budget-oriented, focused on popular tourist destinations such as Goa, Manali, and Shimla, and primarily offer 3-star hotel accommodations. Package prices were found to increase with trip duration and hotel rating, while discounts remained relatively consistent across different price ranges. Overall, this project demonstrates how web-scraped data combined with EDA</a:t>
            </a:r>
            <a:endParaRPr lang="en-IN" dirty="0"/>
          </a:p>
        </p:txBody>
      </p:sp>
    </p:spTree>
    <p:extLst>
      <p:ext uri="{BB962C8B-B14F-4D97-AF65-F5344CB8AC3E}">
        <p14:creationId xmlns:p14="http://schemas.microsoft.com/office/powerpoint/2010/main" val="37481857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189</TotalTime>
  <Words>1036</Words>
  <Application>Microsoft Office PowerPoint</Application>
  <PresentationFormat>Widescreen</PresentationFormat>
  <Paragraphs>82</Paragraphs>
  <Slides>21</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Libre Baskerville</vt:lpstr>
      <vt:lpstr>Calibri Light</vt:lpstr>
      <vt:lpstr>Lato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Uday Deshmukh</cp:lastModifiedBy>
  <cp:revision>3</cp:revision>
  <dcterms:created xsi:type="dcterms:W3CDTF">2021-02-16T05:19:01Z</dcterms:created>
  <dcterms:modified xsi:type="dcterms:W3CDTF">2025-12-27T20:41:38Z</dcterms:modified>
</cp:coreProperties>
</file>